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(COLLABORATIVE INTRODUCTION):</a:t>
            </a:r>
          </a:p>
          <a:p>
            <a:r>
              <a:t>Welcome professors and committee members. Today our team presents VEYRA (Secure Transactions. Resilient Networks).</a:t>
            </a:r>
          </a:p>
          <a:p>
            <a:r>
              <a:t>Modern digital payments rely on uninterrupted internet connectivity. When disaster strikes, remote cellular towers fail, or localized network brownouts occur, economic transactions freeze. VEYRA is a resilient offline payment prototype that bridges this gap by decoupling transaction composition from immediate ledger settlement.</a:t>
            </a:r>
          </a:p>
          <a:p/>
          <a:p>
            <a:r>
              <a:t>TEAM ALLOCATION:</a:t>
            </a:r>
          </a:p>
          <a:p>
            <a:r>
              <a:t>- Member 1: System Architecture and End-to-End Protocol Flow</a:t>
            </a:r>
          </a:p>
          <a:p>
            <a:r>
              <a:t>- Member 2: Frontend Engineering and PHP API Gateway</a:t>
            </a:r>
          </a:p>
          <a:p>
            <a:r>
              <a:t>- Member 3: MySQL Relational Schema and Java Spring Boot Verification Microservice</a:t>
            </a:r>
          </a:p>
          <a:p>
            <a:r>
              <a:t>- Member 4: Hybrid Cryptography, Two-Tier Idempotency, and QA Testing</a:t>
            </a:r>
          </a:p>
          <a:p/>
          <a:p>
            <a:r>
              <a:t>VIVA QUESTION: Is VEYRA transferring real money or connecting directly to the NPCI/UPI network?</a:t>
            </a:r>
          </a:p>
          <a:p>
            <a:r>
              <a:t>MODEL ANSWER: No. VEYRA is strictly an academic and engineering prototype. It utilizes synthetic demo accounts and tokens to demonstrate offline store-and-forward cryptography, P2P mesh relaying, and idempotent settlement without claiming real-money regulatory status.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(MEMBER 1):</a:t>
            </a:r>
          </a:p>
          <a:p>
            <a:r>
              <a:t>In Slide 2, we present the tiered architecture and strict security boundaries of VEYRA.</a:t>
            </a:r>
          </a:p>
          <a:p>
            <a:r>
              <a:t>Notice the 3 distinct execution zones:</a:t>
            </a:r>
          </a:p>
          <a:p>
            <a:r>
              <a:t>1. The Disconnected Edge: Mobile devices interacting over localized Bluetooth Low Energy mesh. They do not have internet. They exchange sealed ciphertext envelopes with a decrementing Time-To-Live.</a:t>
            </a:r>
          </a:p>
          <a:p>
            <a:r>
              <a:t>2. The PHP API Gateway and MySQL Ledger: Acts as the public-facing bridge ingestion orchestrator and relational database ledger. It maintains ACID guarantees and optimistic concurrency locking.</a:t>
            </a:r>
          </a:p>
          <a:p>
            <a:r>
              <a:t>3. The Java Verification Microservice: An isolated internal service that holds the master RSA private key. The browser CANNOT access this service directly; all requests must flow through the PHP API with an internal API token.</a:t>
            </a:r>
          </a:p>
          <a:p/>
          <a:p>
            <a:r>
              <a:t>VIVA QUESTION: Why separate the Java verification service from the PHP application rather than doing everything in PHP?</a:t>
            </a:r>
          </a:p>
          <a:p>
            <a:r>
              <a:t>MODEL ANSWER: Separation of concerns and defense-in-depth. Java provides enterprise-grade cryptographic primitives, strict DTO typing, and ultra-fast in-memory concurrency controls via ConcurrentHashMap. The PHP tier handles web routing, session control, and database operations. If the web tier is compromised, the attacker still cannot obtain the server's private RSA key because it is sandboxed inside the Java service.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(MEMBER 1):</a:t>
            </a:r>
          </a:p>
          <a:p>
            <a:r>
              <a:t>Slide 3 walks through the complete 4-step lifecycle of an offline transaction:</a:t>
            </a:r>
          </a:p>
          <a:p>
            <a:r>
              <a:t>1. Composition: The payer enters the beneficiary's VPA (e.g., bob@veyra) and amount. A cryptographically random 128-bit nonce and UTC timestamp are bound to the transaction instruction.</a:t>
            </a:r>
          </a:p>
          <a:p>
            <a:r>
              <a:t>2. Hybrid Sealing: Senders use hybrid encryption (AES-256-GCM + RSA-2048 OAEP). An authenticated AES session key encrypts the data, and the AES key is encrypted with the server's public key.</a:t>
            </a:r>
          </a:p>
          <a:p>
            <a:r>
              <a:t>3. Epidemic Mesh Propagation: Disconnected nodes gossip packets across peer-to-peer links. Intermediate devices never see plaintext amounts or PINs.</a:t>
            </a:r>
          </a:p>
          <a:p>
            <a:r>
              <a:t>4. Bridge Ingestion &amp; Settlement: Once an internet bridge node connects, it flushes the bundle to the authoritative backend.</a:t>
            </a:r>
          </a:p>
          <a:p/>
          <a:p>
            <a:r>
              <a:t>VIVA QUESTION: What prevents a bad actor in the mesh from replaying a valid payment packet multiple times?</a:t>
            </a:r>
          </a:p>
          <a:p>
            <a:r>
              <a:t>MODEL ANSWER: Two mechanisms: First, the pre-decryption SHA-256 packet hash is tracked in an atomic idempotency register. Second, each transaction contains a single-use UUID nonce and timestamp. If a duplicate packet arrives from a different mesh path, it is immediately dropped by the Java in-memory cache and MySQL unique constraint before any funds can be moved.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(MEMBER 2):</a:t>
            </a:r>
          </a:p>
          <a:p>
            <a:r>
              <a:t>Slide 4 covers the frontend architecture. We deliberately avoided bloated frontend frameworks and built a clean, high-performance Single Page Application using Bootstrap 5.3 and modern Vanilla JavaScript.</a:t>
            </a:r>
          </a:p>
          <a:p>
            <a:r>
              <a:t>Key highlights:</a:t>
            </a:r>
          </a:p>
          <a:p>
            <a:r>
              <a:t>- Netlify Static Hosting Ready: The frontend contains netlify.toml and can be hosted on static CDNs, communicating with the PHP backend via CORS-enabled REST endpoints.</a:t>
            </a:r>
          </a:p>
          <a:p>
            <a:r>
              <a:t>- Dynamic Config: The UI allows live configuration of the API Gateway base URL so it can seamlessly toggle between localhost:8000 and a production cloud deployment.</a:t>
            </a:r>
          </a:p>
          <a:p>
            <a:r>
              <a:t>- 8 Specialized Views: The operator can compose payments, observe mesh gossip visually, inspect raw encrypted packets, and test tamper detection directly from the browser.</a:t>
            </a:r>
          </a:p>
          <a:p/>
          <a:p>
            <a:r>
              <a:t>VIVA QUESTION: How does the frontend communicate with the backend when the client is simulated as offline?</a:t>
            </a:r>
          </a:p>
          <a:p>
            <a:r>
              <a:t>MODEL ANSWER: In a production physical deployment, mobile devices use native Bluetooth Low Energy beacons. In our web simulation prototype, the client simulates the offline generation by encrypting the packet locally, storing it in the device's outbox table, and simulating gossip hops before the bridge node pushes it to the server.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(MEMBER 2):</a:t>
            </a:r>
          </a:p>
          <a:p>
            <a:r>
              <a:t>Slide 5 details the PHP 8.2 backend architecture. We implemented enterprise-grade patterns:</a:t>
            </a:r>
          </a:p>
          <a:p>
            <a:r>
              <a:t>1. Repository Pattern: Repositories (TransactionRepository, AccountRepository, QueueRepository, MeshRepository, AuditRepository) isolate raw SQL and PDO queries.</a:t>
            </a:r>
          </a:p>
          <a:p>
            <a:r>
              <a:t>2. Service Layer: TransactionService, QueueService, and MeshService encapsulate business logic and transactional integrity.</a:t>
            </a:r>
          </a:p>
          <a:p>
            <a:r>
              <a:t>3. JavaVerificationClient: Encapsulates secure cURL communication with the Java microservice, handling connection timeouts and header authentication.</a:t>
            </a:r>
          </a:p>
          <a:p/>
          <a:p>
            <a:r>
              <a:t>VIVA QUESTION: How does the PHP backend prevent race conditions when two bridge nodes submit transactions affecting the same account?</a:t>
            </a:r>
          </a:p>
          <a:p>
            <a:r>
              <a:t>MODEL ANSWER: We use optimistic concurrency control. Each account record has a 'version' integer column. When updating balances, the query asserts: WHERE id = :id AND version = :expectedVersion, and increments version by 1. If rowCount() is 0, another process modified the balance concurrently, causing the transaction to rollback cleanly.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(MEMBER 3):</a:t>
            </a:r>
          </a:p>
          <a:p>
            <a:r>
              <a:t>Slide 6 presents our database engineering. The original prototype stored data in an in-memory H2 database, which erased all records upon server restart. We completely replaced this with a normalized MySQL 8 schema consisting of 8 relational tables:</a:t>
            </a:r>
          </a:p>
          <a:p>
            <a:r>
              <a:t>- The transactions table stores the canonical ledger entry.</a:t>
            </a:r>
          </a:p>
          <a:p>
            <a:r>
              <a:t>- The idempotency_records table enforces a UNIQUE key on the packet_hash.</a:t>
            </a:r>
          </a:p>
          <a:p>
            <a:r>
              <a:t>- The transaction_status_history table guarantees an append-only audit trail whenever a transaction moves from QUEUED_FOR_SYNC to SYNCHRONIZED.</a:t>
            </a:r>
          </a:p>
          <a:p/>
          <a:p>
            <a:r>
              <a:t>VIVA QUESTION: Why do you store packet_hash in idempotency_records if the transactions table already has it?</a:t>
            </a:r>
          </a:p>
          <a:p>
            <a:r>
              <a:t>MODEL ANSWER: Performance and separation of concerns. The idempotency table acts as a lightweight gatekeeper. During high-volume bridge ingestion, checking a specialized hash index requires far less I/O than locking the entire transactions ledger table.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(MEMBER 3):</a:t>
            </a:r>
          </a:p>
          <a:p>
            <a:r>
              <a:t>Slide 7 dives into the Java Spring Boot Verification Microservice. In the original prototype, Java was a monolithic web server. In VEYRA, we re-architected it into a specialized cryptographic verification microservice running on port 8085.</a:t>
            </a:r>
          </a:p>
          <a:p>
            <a:r>
              <a:t>Core components:</a:t>
            </a:r>
          </a:p>
          <a:p>
            <a:r>
              <a:t>- ServerKeyHolder: Generates and stores the authoritative RSA-2048 keypair.</a:t>
            </a:r>
          </a:p>
          <a:p>
            <a:r>
              <a:t>- VerificationService: Handles the cryptographic heavy lifting. It uses standard Java Cryptography Architecture (JCA) and SunJCE providers for AES/GCM/NoPadding and RSA/ECB/OAEPWithSHA-256AndMGF1Padding.</a:t>
            </a:r>
          </a:p>
          <a:p>
            <a:r>
              <a:t>- MeshSimulatorService: Models virtual Bluetooth Low Energy devices and mimics packet transfer between nodes in beacon range.</a:t>
            </a:r>
          </a:p>
          <a:p/>
          <a:p>
            <a:r>
              <a:t>VIVA QUESTION: How does the microservice authenticate incoming requests from the PHP gateway?</a:t>
            </a:r>
          </a:p>
          <a:p>
            <a:r>
              <a:t>MODEL ANSWER: Private service endpoints require the HTTP header 'X-Veyra-Internal-Key' containing a shared secret token. Requests without this token or with invalid tokens receive HTTP 403 Forbidden, preventing unauthorized clients on the network from accessing verification routines.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(MEMBER 4):</a:t>
            </a:r>
          </a:p>
          <a:p>
            <a:r>
              <a:t>Slide 8 addresses the core security and cryptographic engineering of VEYRA.</a:t>
            </a:r>
          </a:p>
          <a:p>
            <a:r>
              <a:t>We employ a hybrid encryption scheme: AES-256-GCM authenticated symmetric encryption combined with RSA-2048 OAEP key encapsulation.</a:t>
            </a:r>
          </a:p>
          <a:p>
            <a:r>
              <a:t>Why AES-GCM? Unlike standard AES-CBC, GCM mode provides built-in authentication via an integrity tag. If an intermediary relay node tries to tamper with the ciphertext in transit, the authentication tag check immediately throws a TagMismatch exception.</a:t>
            </a:r>
          </a:p>
          <a:p/>
          <a:p>
            <a:r>
              <a:t>Two-Tier Idempotency:</a:t>
            </a:r>
          </a:p>
          <a:p>
            <a:r>
              <a:t>Because epidemic mesh routing floods packets across multiple peer paths, duplicate delivery is guaranteed to happen. We defend against this in two tiers:</a:t>
            </a:r>
          </a:p>
          <a:p>
            <a:r>
              <a:t>- Java in-memory ConcurrentHashMap filters 99.9% of duplicates before wasting CPU cycles on RSA decryption.</a:t>
            </a:r>
          </a:p>
          <a:p>
            <a:r>
              <a:t>- MySQL unique constraints guarantee that even if two bridge nodes hit the database simultaneously, only one transaction can ever settle.</a:t>
            </a:r>
          </a:p>
          <a:p/>
          <a:p>
            <a:r>
              <a:t>VIVA QUESTION: Why not use digital signatures instead of encryption alone?</a:t>
            </a:r>
          </a:p>
          <a:p>
            <a:r>
              <a:t>MODEL ANSWER: In a production system, client-side digital signatures (e.g., ECDSA or Ed25519) should also be implemented to prove sender non-repudiation. In our prototype, encryption prevents snooping and tampering, and PIN verification authenticates the sender. We have identified client-side public-key digital signatures as item #1 on our future roadmap.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(MEMBER 4):</a:t>
            </a:r>
          </a:p>
          <a:p>
            <a:r>
              <a:t>Slide 9 reports our empirical test findings and maintains strict academic honesty regarding system limitations.</a:t>
            </a:r>
          </a:p>
          <a:p>
            <a:r>
              <a:t>Testing Highlights:</a:t>
            </a:r>
          </a:p>
          <a:p>
            <a:r>
              <a:t>- All 15 automated integration tests executed and passed on the active runtime environment.</a:t>
            </a:r>
          </a:p>
          <a:p>
            <a:r>
              <a:t>- Maven unit tests verified that modifying ciphertext triggers immediate rejection without modifying database state.</a:t>
            </a:r>
          </a:p>
          <a:p>
            <a:r>
              <a:t>- SQL injection attacks using malicious string inputs (' OR '1'='1) were tested and successfully neutralized by PDO prepared statements.</a:t>
            </a:r>
          </a:p>
          <a:p/>
          <a:p>
            <a:r>
              <a:t>Limitations:</a:t>
            </a:r>
          </a:p>
          <a:p>
            <a:r>
              <a:t>- VEYRA is a protocol prototype, not a licensed payment service provider.</a:t>
            </a:r>
          </a:p>
          <a:p>
            <a:r>
              <a:t>- Disconnected double-spending: If a malicious user creates two conflicting payments offline before syncing, our backend detects the overdraft at bridge ingestion and marks the second payment as REJECTED (Insufficient balance). True offline prevention requires hardware Secure Elements (SIM/eSE), which is our proposed commercial enhancement.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NOTES (COLLABORATIVE CONCLUSION &amp; Q&amp;A):</a:t>
            </a:r>
          </a:p>
          <a:p>
            <a:r>
              <a:t>In conclusion, VEYRA proves the feasibility of an offline-resilient transaction protocol.</a:t>
            </a:r>
          </a:p>
          <a:p>
            <a:r>
              <a:t>By combining hybrid cryptography, epidemic BLE mesh routing, and two-tier idempotent ledger synchronization, we have demonstrated how digital transactions can survive network interruptions without risking duplicate settlements or tampering.</a:t>
            </a:r>
          </a:p>
          <a:p/>
          <a:p>
            <a:r>
              <a:t>LIKELY VIVA QUESTIONS &amp; MODEL ANSWERS:</a:t>
            </a:r>
          </a:p>
          <a:p>
            <a:r>
              <a:t>Q1: What happens if a packet's TTL expires before it reaches a bridge node?</a:t>
            </a:r>
          </a:p>
          <a:p>
            <a:r>
              <a:t>A1: The packet is dropped by relay nodes to prevent infinite mesh flooding. The sender's outbox retains the packet and can re-queue it with a refreshed TTL upon user prompt.</a:t>
            </a:r>
          </a:p>
          <a:p/>
          <a:p>
            <a:r>
              <a:t>Q2: How does the system handle high traffic if thousands of packets arrive at the bridge simultaneously?</a:t>
            </a:r>
          </a:p>
          <a:p>
            <a:r>
              <a:t>A2: The bridge bundles packets into batches. The Java verifier processes packets concurrently using thread pools, and the MySQL ledger utilizes indexed transactions with optimistic locking to process commits in sub-second intervals.</a:t>
            </a:r>
          </a:p>
          <a:p/>
          <a:p>
            <a:r>
              <a:t>Thank you! We now welcome any questions from the panel.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xagon 2"/>
          <p:cNvSpPr/>
          <p:nvPr/>
        </p:nvSpPr>
        <p:spPr>
          <a:xfrm>
            <a:off x="5303520" y="1097280"/>
            <a:ext cx="1554480" cy="1554480"/>
          </a:xfrm>
          <a:prstGeom prst="hexagon">
            <a:avLst/>
          </a:prstGeom>
          <a:solidFill>
            <a:srgbClr val="13203C"/>
          </a:solidFill>
          <a:ln w="381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0" y="1371600"/>
            <a:ext cx="1554480" cy="914400"/>
          </a:xfrm>
          <a:prstGeom prst="rect">
            <a:avLst/>
          </a:prstGeom>
          <a:noFill/>
        </p:spPr>
        <p:txBody>
          <a:bodyPr wrap="none">
            <a:spAutoFit/>
          </a:bodyPr>
          <a:lstStyle/>
          <a:p>
            <a:pPr algn="ctr">
              <a:defRPr sz="4800" b="1">
                <a:solidFill>
                  <a:srgbClr val="06B6D4"/>
                </a:solidFill>
              </a:defRPr>
            </a:pPr>
            <a:r>
              <a:t>V</a:t>
            </a:r>
          </a:p>
        </p:txBody>
      </p:sp>
      <p:sp>
        <p:nvSpPr>
          <p:cNvPr id="5" name="TextBox 4"/>
          <p:cNvSpPr txBox="1"/>
          <p:nvPr/>
        </p:nvSpPr>
        <p:spPr>
          <a:xfrm>
            <a:off x="1371600" y="2834640"/>
            <a:ext cx="9448495" cy="1463040"/>
          </a:xfrm>
          <a:prstGeom prst="rect">
            <a:avLst/>
          </a:prstGeom>
          <a:noFill/>
        </p:spPr>
        <p:txBody>
          <a:bodyPr wrap="none">
            <a:spAutoFit/>
          </a:bodyPr>
          <a:lstStyle/>
          <a:p>
            <a:pPr algn="ctr">
              <a:defRPr sz="4400" b="1">
                <a:solidFill>
                  <a:srgbClr val="F8FAFC"/>
                </a:solidFill>
              </a:defRPr>
            </a:pPr>
            <a:r>
              <a:t>VEYRA</a:t>
            </a:r>
          </a:p>
          <a:p>
            <a:pPr algn="ctr">
              <a:defRPr sz="1800">
                <a:solidFill>
                  <a:srgbClr val="10B981"/>
                </a:solidFill>
              </a:defRPr>
            </a:pPr>
            <a:r>
              <a:t>Secure Transactions. Resilient Networks.</a:t>
            </a:r>
          </a:p>
          <a:p>
            <a:pPr algn="ctr">
              <a:defRPr sz="1300">
                <a:solidFill>
                  <a:srgbClr val="94A3B8"/>
                </a:solidFill>
              </a:defRPr>
            </a:pPr>
            <a:r>
              <a:t>An Offline-Capable Transaction Messaging, BLE Mesh Routing &amp; Cryptographic Verification Prototype</a:t>
            </a:r>
          </a:p>
        </p:txBody>
      </p:sp>
      <p:sp>
        <p:nvSpPr>
          <p:cNvPr id="6" name="Rounded Rectangle 5"/>
          <p:cNvSpPr/>
          <p:nvPr/>
        </p:nvSpPr>
        <p:spPr>
          <a:xfrm>
            <a:off x="1371600" y="4572000"/>
            <a:ext cx="9448495" cy="1645920"/>
          </a:xfrm>
          <a:prstGeom prst="roundRect">
            <a:avLst/>
          </a:prstGeom>
          <a:solidFill>
            <a:srgbClr val="0D172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54480" y="4709160"/>
            <a:ext cx="9082735" cy="365760"/>
          </a:xfrm>
          <a:prstGeom prst="rect">
            <a:avLst/>
          </a:prstGeom>
          <a:noFill/>
        </p:spPr>
        <p:txBody>
          <a:bodyPr wrap="none">
            <a:spAutoFit/>
          </a:bodyPr>
          <a:lstStyle/>
          <a:p>
            <a:pPr>
              <a:defRPr sz="1300" b="1">
                <a:solidFill>
                  <a:srgbClr val="10B981"/>
                </a:solidFill>
              </a:defRPr>
            </a:pPr>
            <a:r>
              <a:t>PROJECT PRESENTATION TEAM &amp; ALLOCATION</a:t>
            </a:r>
          </a:p>
        </p:txBody>
      </p:sp>
      <p:sp>
        <p:nvSpPr>
          <p:cNvPr id="8" name="TextBox 7"/>
          <p:cNvSpPr txBox="1"/>
          <p:nvPr/>
        </p:nvSpPr>
        <p:spPr>
          <a:xfrm>
            <a:off x="1554480" y="4983480"/>
            <a:ext cx="9082735" cy="1097280"/>
          </a:xfrm>
          <a:prstGeom prst="rect">
            <a:avLst/>
          </a:prstGeom>
          <a:noFill/>
        </p:spPr>
        <p:txBody>
          <a:bodyPr wrap="square">
            <a:spAutoFit/>
          </a:bodyPr>
          <a:lstStyle/>
          <a:p>
            <a:pPr>
              <a:defRPr sz="1100">
                <a:solidFill>
                  <a:srgbClr val="F8FAFC"/>
                </a:solidFill>
              </a:defRPr>
            </a:pPr>
            <a:r>
              <a:t>• [Member 1 / Roll No]: Slides 2–3 (System Architecture &amp; End-to-End Protocol Workflow)</a:t>
            </a:r>
            <a:br/>
            <a:r>
              <a:t>• [Member 2 / Roll No]: Slides 4–5 (Frontend Experience &amp; PHP 8.2 Backend Architecture)</a:t>
            </a:r>
            <a:br/>
            <a:r>
              <a:t>• [Member 3 / Roll No]: Slides 6–7 (MySQL Relational Schema &amp; Java Spring Boot Microservice)</a:t>
            </a:r>
            <a:br/>
            <a:r>
              <a:t>• [Member 4 / Roll No]: Slides 8–9 (Hybrid Cryptography, Two-Tier Idempotency &amp; Acceptance Testing)</a:t>
            </a:r>
          </a:p>
          <a:p>
            <a:pPr>
              <a:defRPr sz="1000">
                <a:solidFill>
                  <a:srgbClr val="94A3B8"/>
                </a:solidFill>
              </a:defRPr>
            </a:pPr>
            <a:r>
              <a:t>Institution: [Department / College / University Name]  |  Guide/Faculty: [Faculty Mentor Name]  |  Date: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6400800" cy="320040"/>
          </a:xfrm>
          <a:prstGeom prst="rect">
            <a:avLst/>
          </a:prstGeom>
          <a:noFill/>
        </p:spPr>
        <p:txBody>
          <a:bodyPr wrap="square">
            <a:spAutoFit/>
          </a:bodyPr>
          <a:lstStyle/>
          <a:p>
            <a:pPr>
              <a:defRPr sz="1000" b="1">
                <a:solidFill>
                  <a:srgbClr val="06B6D4"/>
                </a:solidFill>
              </a:defRPr>
            </a:pPr>
            <a:r>
              <a:t>VEYRA // ARCHITECTURE</a:t>
            </a:r>
          </a:p>
        </p:txBody>
      </p:sp>
      <p:sp>
        <p:nvSpPr>
          <p:cNvPr id="5" name="TextBox 4"/>
          <p:cNvSpPr txBox="1"/>
          <p:nvPr/>
        </p:nvSpPr>
        <p:spPr>
          <a:xfrm>
            <a:off x="731520" y="685800"/>
            <a:ext cx="7772400" cy="685800"/>
          </a:xfrm>
          <a:prstGeom prst="rect">
            <a:avLst/>
          </a:prstGeom>
          <a:noFill/>
        </p:spPr>
        <p:txBody>
          <a:bodyPr wrap="square">
            <a:spAutoFit/>
          </a:bodyPr>
          <a:lstStyle/>
          <a:p>
            <a:pPr>
              <a:defRPr sz="2200" b="1">
                <a:solidFill>
                  <a:srgbClr val="F8FAFC"/>
                </a:solidFill>
              </a:defRPr>
            </a:pPr>
            <a:r>
              <a:t>System Architecture &amp; Security Boundaries</a:t>
            </a:r>
          </a:p>
        </p:txBody>
      </p:sp>
      <p:sp>
        <p:nvSpPr>
          <p:cNvPr id="6" name="Rounded Rectangle 5"/>
          <p:cNvSpPr/>
          <p:nvPr/>
        </p:nvSpPr>
        <p:spPr>
          <a:xfrm>
            <a:off x="8961120" y="594360"/>
            <a:ext cx="2499055" cy="411480"/>
          </a:xfrm>
          <a:prstGeom prst="roundRect">
            <a:avLst/>
          </a:prstGeom>
          <a:solidFill>
            <a:srgbClr val="13203C"/>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0B981"/>
                </a:solidFill>
              </a:defRPr>
            </a:pPr>
            <a:r>
              <a:t>Member 1: Architecture &amp; Flow</a:t>
            </a:r>
          </a:p>
        </p:txBody>
      </p:sp>
      <p:sp>
        <p:nvSpPr>
          <p:cNvPr id="7" name="Rounded Rectangle 6"/>
          <p:cNvSpPr/>
          <p:nvPr/>
        </p:nvSpPr>
        <p:spPr>
          <a:xfrm>
            <a:off x="731520" y="1463040"/>
            <a:ext cx="3291840" cy="4846320"/>
          </a:xfrm>
          <a:prstGeom prst="roundRect">
            <a:avLst/>
          </a:prstGeom>
          <a:solidFill>
            <a:srgbClr val="0D172A"/>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2926080" cy="365760"/>
          </a:xfrm>
          <a:prstGeom prst="rect">
            <a:avLst/>
          </a:prstGeom>
          <a:noFill/>
        </p:spPr>
        <p:txBody>
          <a:bodyPr wrap="none">
            <a:spAutoFit/>
          </a:bodyPr>
          <a:lstStyle/>
          <a:p>
            <a:pPr>
              <a:defRPr sz="1300" b="1">
                <a:solidFill>
                  <a:srgbClr val="10B981"/>
                </a:solidFill>
              </a:defRPr>
            </a:pPr>
            <a:r>
              <a:t>1. Disconnected Edge / P2P Mesh</a:t>
            </a:r>
          </a:p>
        </p:txBody>
      </p:sp>
      <p:sp>
        <p:nvSpPr>
          <p:cNvPr id="9" name="TextBox 8"/>
          <p:cNvSpPr txBox="1"/>
          <p:nvPr/>
        </p:nvSpPr>
        <p:spPr>
          <a:xfrm>
            <a:off x="914400" y="1920240"/>
            <a:ext cx="2926080" cy="4206240"/>
          </a:xfrm>
          <a:prstGeom prst="rect">
            <a:avLst/>
          </a:prstGeom>
          <a:noFill/>
        </p:spPr>
        <p:txBody>
          <a:bodyPr wrap="square">
            <a:spAutoFit/>
          </a:bodyPr>
          <a:lstStyle/>
          <a:p>
            <a:pPr>
              <a:defRPr sz="1100">
                <a:solidFill>
                  <a:srgbClr val="F8FAFC"/>
                </a:solidFill>
              </a:defRPr>
            </a:pPr>
            <a:r>
              <a:t>• Zero-Internet Environment</a:t>
            </a:r>
            <a:br/>
            <a:r>
              <a:t>• Client-side transaction composition &amp; payload sealing</a:t>
            </a:r>
            <a:br/>
            <a:r>
              <a:t>• Virtual BLE 5.0 Peer Mesh (Alice, Bob, Carol, Dave)</a:t>
            </a:r>
            <a:br/>
            <a:r>
              <a:t>• Epidemic Store-and-Forward routing with hop TTL countdown</a:t>
            </a:r>
            <a:br/>
            <a:r>
              <a:t>• Payload remains opaque: Intermediate relays cannot inspect or tamper with transaction amounts or VPAs.</a:t>
            </a:r>
          </a:p>
        </p:txBody>
      </p:sp>
      <p:sp>
        <p:nvSpPr>
          <p:cNvPr id="10" name="Rounded Rectangle 9"/>
          <p:cNvSpPr/>
          <p:nvPr/>
        </p:nvSpPr>
        <p:spPr>
          <a:xfrm>
            <a:off x="4389120" y="1463040"/>
            <a:ext cx="3383280" cy="4846320"/>
          </a:xfrm>
          <a:prstGeom prst="roundRect">
            <a:avLst/>
          </a:prstGeom>
          <a:solidFill>
            <a:srgbClr val="0D172A"/>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600200"/>
            <a:ext cx="3017520" cy="365760"/>
          </a:xfrm>
          <a:prstGeom prst="rect">
            <a:avLst/>
          </a:prstGeom>
          <a:noFill/>
        </p:spPr>
        <p:txBody>
          <a:bodyPr wrap="none">
            <a:spAutoFit/>
          </a:bodyPr>
          <a:lstStyle/>
          <a:p>
            <a:pPr>
              <a:defRPr sz="1300" b="1">
                <a:solidFill>
                  <a:srgbClr val="10B981"/>
                </a:solidFill>
              </a:defRPr>
            </a:pPr>
            <a:r>
              <a:t>2. API Gateway &amp; Ledger Engine</a:t>
            </a:r>
          </a:p>
        </p:txBody>
      </p:sp>
      <p:sp>
        <p:nvSpPr>
          <p:cNvPr id="12" name="TextBox 11"/>
          <p:cNvSpPr txBox="1"/>
          <p:nvPr/>
        </p:nvSpPr>
        <p:spPr>
          <a:xfrm>
            <a:off x="4572000" y="1920240"/>
            <a:ext cx="3017520" cy="4206240"/>
          </a:xfrm>
          <a:prstGeom prst="rect">
            <a:avLst/>
          </a:prstGeom>
          <a:noFill/>
        </p:spPr>
        <p:txBody>
          <a:bodyPr wrap="square">
            <a:spAutoFit/>
          </a:bodyPr>
          <a:lstStyle/>
          <a:p>
            <a:pPr>
              <a:defRPr sz="1100">
                <a:solidFill>
                  <a:srgbClr val="F8FAFC"/>
                </a:solidFill>
              </a:defRPr>
            </a:pPr>
            <a:r>
              <a:t>• PHP 8.2 Application Server</a:t>
            </a:r>
            <a:br/>
            <a:r>
              <a:t>• Strict Input Validation &amp; CSRF token enforcement</a:t>
            </a:r>
            <a:br/>
            <a:r>
              <a:t>• MySQL 8.0 InnoDB persistent ledger</a:t>
            </a:r>
            <a:br/>
            <a:r>
              <a:t>• Atomic balance settlement with optimistic concurrency locks (version columns)</a:t>
            </a:r>
            <a:br/>
            <a:r>
              <a:t>• Tamper-evident Audit Events logging for all state changes</a:t>
            </a:r>
            <a:br/>
            <a:r>
              <a:t>• Secure bridge ingestion endpoint (/api/synchronize.php).</a:t>
            </a:r>
          </a:p>
        </p:txBody>
      </p:sp>
      <p:sp>
        <p:nvSpPr>
          <p:cNvPr id="13" name="Rounded Rectangle 12"/>
          <p:cNvSpPr/>
          <p:nvPr/>
        </p:nvSpPr>
        <p:spPr>
          <a:xfrm>
            <a:off x="8138160" y="1463040"/>
            <a:ext cx="3291840" cy="4846320"/>
          </a:xfrm>
          <a:prstGeom prst="roundRect">
            <a:avLst/>
          </a:prstGeom>
          <a:solidFill>
            <a:srgbClr val="0D172A"/>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1600200"/>
            <a:ext cx="2926080" cy="365760"/>
          </a:xfrm>
          <a:prstGeom prst="rect">
            <a:avLst/>
          </a:prstGeom>
          <a:noFill/>
        </p:spPr>
        <p:txBody>
          <a:bodyPr wrap="none">
            <a:spAutoFit/>
          </a:bodyPr>
          <a:lstStyle/>
          <a:p>
            <a:pPr>
              <a:defRPr sz="1300" b="1">
                <a:solidFill>
                  <a:srgbClr val="10B981"/>
                </a:solidFill>
              </a:defRPr>
            </a:pPr>
            <a:r>
              <a:t>3. Java Verification Microservice</a:t>
            </a:r>
          </a:p>
        </p:txBody>
      </p:sp>
      <p:sp>
        <p:nvSpPr>
          <p:cNvPr id="15" name="TextBox 14"/>
          <p:cNvSpPr txBox="1"/>
          <p:nvPr/>
        </p:nvSpPr>
        <p:spPr>
          <a:xfrm>
            <a:off x="8321040" y="1920240"/>
            <a:ext cx="2926080" cy="4206240"/>
          </a:xfrm>
          <a:prstGeom prst="rect">
            <a:avLst/>
          </a:prstGeom>
          <a:noFill/>
        </p:spPr>
        <p:txBody>
          <a:bodyPr wrap="square">
            <a:spAutoFit/>
          </a:bodyPr>
          <a:lstStyle/>
          <a:p>
            <a:pPr>
              <a:defRPr sz="1100">
                <a:solidFill>
                  <a:srgbClr val="F8FAFC"/>
                </a:solidFill>
              </a:defRPr>
            </a:pPr>
            <a:r>
              <a:t>• Java 17 + Spring Boot 3.3</a:t>
            </a:r>
            <a:br/>
            <a:r>
              <a:t>• Private server-to-server security boundary: Authenticated via X-Veyra-Internal-Key</a:t>
            </a:r>
            <a:br/>
            <a:r>
              <a:t>• RSA-2048 / OAEP Decryption with server-retained private key</a:t>
            </a:r>
            <a:br/>
            <a:r>
              <a:t>• AES-256-GCM symmetric decryption &amp; authentication tag verification</a:t>
            </a:r>
            <a:br/>
            <a:r>
              <a:t>• Sub-millisecond ConcurrentHashMap idempotency cache filtering.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6400800" cy="320040"/>
          </a:xfrm>
          <a:prstGeom prst="rect">
            <a:avLst/>
          </a:prstGeom>
          <a:noFill/>
        </p:spPr>
        <p:txBody>
          <a:bodyPr wrap="square">
            <a:spAutoFit/>
          </a:bodyPr>
          <a:lstStyle/>
          <a:p>
            <a:pPr>
              <a:defRPr sz="1000" b="1">
                <a:solidFill>
                  <a:srgbClr val="06B6D4"/>
                </a:solidFill>
              </a:defRPr>
            </a:pPr>
            <a:r>
              <a:t>VEYRA // PROTOCOL FLOW</a:t>
            </a:r>
          </a:p>
        </p:txBody>
      </p:sp>
      <p:sp>
        <p:nvSpPr>
          <p:cNvPr id="5" name="TextBox 4"/>
          <p:cNvSpPr txBox="1"/>
          <p:nvPr/>
        </p:nvSpPr>
        <p:spPr>
          <a:xfrm>
            <a:off x="731520" y="685800"/>
            <a:ext cx="7772400" cy="685800"/>
          </a:xfrm>
          <a:prstGeom prst="rect">
            <a:avLst/>
          </a:prstGeom>
          <a:noFill/>
        </p:spPr>
        <p:txBody>
          <a:bodyPr wrap="square">
            <a:spAutoFit/>
          </a:bodyPr>
          <a:lstStyle/>
          <a:p>
            <a:pPr>
              <a:defRPr sz="2200" b="1">
                <a:solidFill>
                  <a:srgbClr val="F8FAFC"/>
                </a:solidFill>
              </a:defRPr>
            </a:pPr>
            <a:r>
              <a:t>End-to-End Protocol Workflow &amp; Lifecycle</a:t>
            </a:r>
          </a:p>
        </p:txBody>
      </p:sp>
      <p:sp>
        <p:nvSpPr>
          <p:cNvPr id="6" name="Rounded Rectangle 5"/>
          <p:cNvSpPr/>
          <p:nvPr/>
        </p:nvSpPr>
        <p:spPr>
          <a:xfrm>
            <a:off x="8961120" y="594360"/>
            <a:ext cx="2499055" cy="411480"/>
          </a:xfrm>
          <a:prstGeom prst="roundRect">
            <a:avLst/>
          </a:prstGeom>
          <a:solidFill>
            <a:srgbClr val="13203C"/>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0B981"/>
                </a:solidFill>
              </a:defRPr>
            </a:pPr>
            <a:r>
              <a:t>Member 1: Architecture &amp; Flow</a:t>
            </a:r>
          </a:p>
        </p:txBody>
      </p:sp>
      <p:sp>
        <p:nvSpPr>
          <p:cNvPr id="7" name="Rounded Rectangle 6"/>
          <p:cNvSpPr/>
          <p:nvPr/>
        </p:nvSpPr>
        <p:spPr>
          <a:xfrm>
            <a:off x="731520" y="1463040"/>
            <a:ext cx="2560320" cy="3840480"/>
          </a:xfrm>
          <a:prstGeom prst="roundRect">
            <a:avLst/>
          </a:prstGeom>
          <a:solidFill>
            <a:srgbClr val="0D172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2194560" cy="365760"/>
          </a:xfrm>
          <a:prstGeom prst="rect">
            <a:avLst/>
          </a:prstGeom>
          <a:noFill/>
        </p:spPr>
        <p:txBody>
          <a:bodyPr wrap="none">
            <a:spAutoFit/>
          </a:bodyPr>
          <a:lstStyle/>
          <a:p>
            <a:pPr>
              <a:defRPr sz="1300" b="1">
                <a:solidFill>
                  <a:srgbClr val="10B981"/>
                </a:solidFill>
              </a:defRPr>
            </a:pPr>
            <a:r>
              <a:t>Step 1: Composition</a:t>
            </a:r>
          </a:p>
        </p:txBody>
      </p:sp>
      <p:sp>
        <p:nvSpPr>
          <p:cNvPr id="9" name="TextBox 8"/>
          <p:cNvSpPr txBox="1"/>
          <p:nvPr/>
        </p:nvSpPr>
        <p:spPr>
          <a:xfrm>
            <a:off x="868680" y="1920240"/>
            <a:ext cx="2286000" cy="3200400"/>
          </a:xfrm>
          <a:prstGeom prst="rect">
            <a:avLst/>
          </a:prstGeom>
          <a:noFill/>
        </p:spPr>
        <p:txBody>
          <a:bodyPr wrap="square">
            <a:spAutoFit/>
          </a:bodyPr>
          <a:lstStyle/>
          <a:p>
            <a:pPr>
              <a:defRPr sz="1100">
                <a:solidFill>
                  <a:srgbClr val="F8FAFC"/>
                </a:solidFill>
              </a:defRPr>
            </a:pPr>
            <a:r>
              <a:t>User enters recipient VPA &amp; amount. Client authenticates PIN against local secure storage and builds canonical JSON with UTC timestamp and UUID nonce.</a:t>
            </a:r>
          </a:p>
        </p:txBody>
      </p:sp>
      <p:sp>
        <p:nvSpPr>
          <p:cNvPr id="10" name="Rounded Rectangle 9"/>
          <p:cNvSpPr/>
          <p:nvPr/>
        </p:nvSpPr>
        <p:spPr>
          <a:xfrm>
            <a:off x="3429000" y="1463040"/>
            <a:ext cx="2560320" cy="3840480"/>
          </a:xfrm>
          <a:prstGeom prst="roundRect">
            <a:avLst/>
          </a:prstGeom>
          <a:solidFill>
            <a:srgbClr val="0D172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1880" y="1600200"/>
            <a:ext cx="2194560" cy="365760"/>
          </a:xfrm>
          <a:prstGeom prst="rect">
            <a:avLst/>
          </a:prstGeom>
          <a:noFill/>
        </p:spPr>
        <p:txBody>
          <a:bodyPr wrap="none">
            <a:spAutoFit/>
          </a:bodyPr>
          <a:lstStyle/>
          <a:p>
            <a:pPr>
              <a:defRPr sz="1300" b="1">
                <a:solidFill>
                  <a:srgbClr val="10B981"/>
                </a:solidFill>
              </a:defRPr>
            </a:pPr>
            <a:r>
              <a:t>Step 2: Hybrid Seal</a:t>
            </a:r>
          </a:p>
        </p:txBody>
      </p:sp>
      <p:sp>
        <p:nvSpPr>
          <p:cNvPr id="12" name="TextBox 11"/>
          <p:cNvSpPr txBox="1"/>
          <p:nvPr/>
        </p:nvSpPr>
        <p:spPr>
          <a:xfrm>
            <a:off x="3566160" y="1920240"/>
            <a:ext cx="2286000" cy="3200400"/>
          </a:xfrm>
          <a:prstGeom prst="rect">
            <a:avLst/>
          </a:prstGeom>
          <a:noFill/>
        </p:spPr>
        <p:txBody>
          <a:bodyPr wrap="square">
            <a:spAutoFit/>
          </a:bodyPr>
          <a:lstStyle/>
          <a:p>
            <a:pPr>
              <a:defRPr sz="1100">
                <a:solidFill>
                  <a:srgbClr val="F8FAFC"/>
                </a:solidFill>
              </a:defRPr>
            </a:pPr>
            <a:r>
              <a:t>Payload is encrypted with an ephemeral AES-256-GCM key. The AES key is enveloped using the server's RSA-2048 Public Key. SHA-256 hash digest generated.</a:t>
            </a:r>
          </a:p>
        </p:txBody>
      </p:sp>
      <p:sp>
        <p:nvSpPr>
          <p:cNvPr id="13" name="Rounded Rectangle 12"/>
          <p:cNvSpPr/>
          <p:nvPr/>
        </p:nvSpPr>
        <p:spPr>
          <a:xfrm>
            <a:off x="6126480" y="1463040"/>
            <a:ext cx="2560320" cy="3840480"/>
          </a:xfrm>
          <a:prstGeom prst="roundRect">
            <a:avLst/>
          </a:prstGeom>
          <a:solidFill>
            <a:srgbClr val="0D172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1600200"/>
            <a:ext cx="2194560" cy="365760"/>
          </a:xfrm>
          <a:prstGeom prst="rect">
            <a:avLst/>
          </a:prstGeom>
          <a:noFill/>
        </p:spPr>
        <p:txBody>
          <a:bodyPr wrap="none">
            <a:spAutoFit/>
          </a:bodyPr>
          <a:lstStyle/>
          <a:p>
            <a:pPr>
              <a:defRPr sz="1300" b="1">
                <a:solidFill>
                  <a:srgbClr val="10B981"/>
                </a:solidFill>
              </a:defRPr>
            </a:pPr>
            <a:r>
              <a:t>Step 3: BLE Mesh Relay</a:t>
            </a:r>
          </a:p>
        </p:txBody>
      </p:sp>
      <p:sp>
        <p:nvSpPr>
          <p:cNvPr id="15" name="TextBox 14"/>
          <p:cNvSpPr txBox="1"/>
          <p:nvPr/>
        </p:nvSpPr>
        <p:spPr>
          <a:xfrm>
            <a:off x="6263640" y="1920240"/>
            <a:ext cx="2286000" cy="3200400"/>
          </a:xfrm>
          <a:prstGeom prst="rect">
            <a:avLst/>
          </a:prstGeom>
          <a:noFill/>
        </p:spPr>
        <p:txBody>
          <a:bodyPr wrap="square">
            <a:spAutoFit/>
          </a:bodyPr>
          <a:lstStyle/>
          <a:p>
            <a:pPr>
              <a:defRPr sz="1100">
                <a:solidFill>
                  <a:srgbClr val="F8FAFC"/>
                </a:solidFill>
              </a:defRPr>
            </a:pPr>
            <a:r>
              <a:t>Packet is injected into local outbox. Bluetooth gossip daemon advertises manifest. Relays accept packet, decrement TTL, and propagate without inspecting contents.</a:t>
            </a:r>
          </a:p>
        </p:txBody>
      </p:sp>
      <p:sp>
        <p:nvSpPr>
          <p:cNvPr id="16" name="Rounded Rectangle 15"/>
          <p:cNvSpPr/>
          <p:nvPr/>
        </p:nvSpPr>
        <p:spPr>
          <a:xfrm>
            <a:off x="8823960" y="1463040"/>
            <a:ext cx="2560320" cy="3840480"/>
          </a:xfrm>
          <a:prstGeom prst="roundRect">
            <a:avLst/>
          </a:prstGeom>
          <a:solidFill>
            <a:srgbClr val="0D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06840" y="1600200"/>
            <a:ext cx="2194560" cy="365760"/>
          </a:xfrm>
          <a:prstGeom prst="rect">
            <a:avLst/>
          </a:prstGeom>
          <a:noFill/>
        </p:spPr>
        <p:txBody>
          <a:bodyPr wrap="none">
            <a:spAutoFit/>
          </a:bodyPr>
          <a:lstStyle/>
          <a:p>
            <a:pPr>
              <a:defRPr sz="1300" b="1">
                <a:solidFill>
                  <a:srgbClr val="10B981"/>
                </a:solidFill>
              </a:defRPr>
            </a:pPr>
            <a:r>
              <a:t>Step 4: Bridge Uplink</a:t>
            </a:r>
          </a:p>
        </p:txBody>
      </p:sp>
      <p:sp>
        <p:nvSpPr>
          <p:cNvPr id="18" name="TextBox 17"/>
          <p:cNvSpPr txBox="1"/>
          <p:nvPr/>
        </p:nvSpPr>
        <p:spPr>
          <a:xfrm>
            <a:off x="8961120" y="1920240"/>
            <a:ext cx="2286000" cy="3200400"/>
          </a:xfrm>
          <a:prstGeom prst="rect">
            <a:avLst/>
          </a:prstGeom>
          <a:noFill/>
        </p:spPr>
        <p:txBody>
          <a:bodyPr wrap="square">
            <a:spAutoFit/>
          </a:bodyPr>
          <a:lstStyle/>
          <a:p>
            <a:pPr>
              <a:defRPr sz="1100">
                <a:solidFill>
                  <a:srgbClr val="F8FAFC"/>
                </a:solidFill>
              </a:defRPr>
            </a:pPr>
            <a:r>
              <a:t>Internet-capable bridge node (phone-bridge) flushes queue to /api/synchronize.php. Java microservice verifies integrity, checks idempotency, and commits ledger.</a:t>
            </a:r>
          </a:p>
        </p:txBody>
      </p:sp>
      <p:sp>
        <p:nvSpPr>
          <p:cNvPr id="19" name="Rounded Rectangle 18"/>
          <p:cNvSpPr/>
          <p:nvPr/>
        </p:nvSpPr>
        <p:spPr>
          <a:xfrm>
            <a:off x="731520" y="5486400"/>
            <a:ext cx="10728655" cy="822960"/>
          </a:xfrm>
          <a:prstGeom prst="roundRect">
            <a:avLst/>
          </a:prstGeom>
          <a:solidFill>
            <a:srgbClr val="0D172A"/>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5577840"/>
            <a:ext cx="10515600" cy="640080"/>
          </a:xfrm>
          <a:prstGeom prst="rect">
            <a:avLst/>
          </a:prstGeom>
          <a:noFill/>
        </p:spPr>
        <p:txBody>
          <a:bodyPr wrap="none">
            <a:spAutoFit/>
          </a:bodyPr>
          <a:lstStyle/>
          <a:p>
            <a:pPr algn="ctr">
              <a:defRPr sz="1200" b="1">
                <a:solidFill>
                  <a:srgbClr val="10B981"/>
                </a:solidFill>
              </a:defRPr>
            </a:pPr>
            <a:r>
              <a:t>LIFECYCLE STATES:  CREATED  →  PENDING_VERIFICATION  →  QUEUED_FOR_SYNC  →  [GOSSIP HOPS]  →  SYNCHRONIZED (or REJECTED)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6400800" cy="320040"/>
          </a:xfrm>
          <a:prstGeom prst="rect">
            <a:avLst/>
          </a:prstGeom>
          <a:noFill/>
        </p:spPr>
        <p:txBody>
          <a:bodyPr wrap="square">
            <a:spAutoFit/>
          </a:bodyPr>
          <a:lstStyle/>
          <a:p>
            <a:pPr>
              <a:defRPr sz="1000" b="1">
                <a:solidFill>
                  <a:srgbClr val="06B6D4"/>
                </a:solidFill>
              </a:defRPr>
            </a:pPr>
            <a:r>
              <a:t>VEYRA // FRONTEND UI</a:t>
            </a:r>
          </a:p>
        </p:txBody>
      </p:sp>
      <p:sp>
        <p:nvSpPr>
          <p:cNvPr id="5" name="TextBox 4"/>
          <p:cNvSpPr txBox="1"/>
          <p:nvPr/>
        </p:nvSpPr>
        <p:spPr>
          <a:xfrm>
            <a:off x="731520" y="685800"/>
            <a:ext cx="7772400" cy="685800"/>
          </a:xfrm>
          <a:prstGeom prst="rect">
            <a:avLst/>
          </a:prstGeom>
          <a:noFill/>
        </p:spPr>
        <p:txBody>
          <a:bodyPr wrap="square">
            <a:spAutoFit/>
          </a:bodyPr>
          <a:lstStyle/>
          <a:p>
            <a:pPr>
              <a:defRPr sz="2200" b="1">
                <a:solidFill>
                  <a:srgbClr val="F8FAFC"/>
                </a:solidFill>
              </a:defRPr>
            </a:pPr>
            <a:r>
              <a:t>Frontend Engineering &amp; User Experience</a:t>
            </a:r>
          </a:p>
        </p:txBody>
      </p:sp>
      <p:sp>
        <p:nvSpPr>
          <p:cNvPr id="6" name="Rounded Rectangle 5"/>
          <p:cNvSpPr/>
          <p:nvPr/>
        </p:nvSpPr>
        <p:spPr>
          <a:xfrm>
            <a:off x="8961120" y="594360"/>
            <a:ext cx="2499055" cy="411480"/>
          </a:xfrm>
          <a:prstGeom prst="roundRect">
            <a:avLst/>
          </a:prstGeom>
          <a:solidFill>
            <a:srgbClr val="13203C"/>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0B981"/>
                </a:solidFill>
              </a:defRPr>
            </a:pPr>
            <a:r>
              <a:t>Member 2: Frontend &amp; PHP</a:t>
            </a:r>
          </a:p>
        </p:txBody>
      </p:sp>
      <p:sp>
        <p:nvSpPr>
          <p:cNvPr id="7" name="Rounded Rectangle 6"/>
          <p:cNvSpPr/>
          <p:nvPr/>
        </p:nvSpPr>
        <p:spPr>
          <a:xfrm>
            <a:off x="731520" y="1463040"/>
            <a:ext cx="5212080" cy="4846320"/>
          </a:xfrm>
          <a:prstGeom prst="roundRect">
            <a:avLst/>
          </a:prstGeom>
          <a:solidFill>
            <a:srgbClr val="0D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4846320" cy="365760"/>
          </a:xfrm>
          <a:prstGeom prst="rect">
            <a:avLst/>
          </a:prstGeom>
          <a:noFill/>
        </p:spPr>
        <p:txBody>
          <a:bodyPr wrap="none">
            <a:spAutoFit/>
          </a:bodyPr>
          <a:lstStyle/>
          <a:p>
            <a:pPr>
              <a:defRPr sz="1300" b="1">
                <a:solidFill>
                  <a:srgbClr val="10B981"/>
                </a:solidFill>
              </a:defRPr>
            </a:pPr>
            <a:r>
              <a:t>Fintech Design System &amp; Standards</a:t>
            </a:r>
          </a:p>
        </p:txBody>
      </p:sp>
      <p:sp>
        <p:nvSpPr>
          <p:cNvPr id="9" name="TextBox 8"/>
          <p:cNvSpPr txBox="1"/>
          <p:nvPr/>
        </p:nvSpPr>
        <p:spPr>
          <a:xfrm>
            <a:off x="914400" y="1920240"/>
            <a:ext cx="4846320" cy="4206240"/>
          </a:xfrm>
          <a:prstGeom prst="rect">
            <a:avLst/>
          </a:prstGeom>
          <a:noFill/>
        </p:spPr>
        <p:txBody>
          <a:bodyPr wrap="square">
            <a:spAutoFit/>
          </a:bodyPr>
          <a:lstStyle/>
          <a:p>
            <a:pPr>
              <a:defRPr sz="1100">
                <a:solidFill>
                  <a:srgbClr val="F8FAFC"/>
                </a:solidFill>
              </a:defRPr>
            </a:pPr>
            <a:r>
              <a:t>• Brand Aesthetics: Midnight Navy (#0B132B), Mint Green (#10B981), Electric Cyan (#06B6D4), and neutral slate text.</a:t>
            </a:r>
            <a:br/>
            <a:br/>
            <a:r>
              <a:t>• Modern Framework: Bootstrap 5.3 + Vanilla ES6 JavaScript (Zero heavy bundlers; instant browser execution).</a:t>
            </a:r>
            <a:br/>
            <a:br/>
            <a:r>
              <a:t>• Netlify-Ready Architecture: Static deployment compliant with netlify.toml and configurable API Gateway base URL.</a:t>
            </a:r>
            <a:br/>
            <a:br/>
            <a:r>
              <a:t>• Defensive Design: Client-side input validation, real-time hop slider (1-10 hops), PIN masking, animated health pulse, and non-blocking toast notifications.</a:t>
            </a:r>
            <a:br/>
            <a:br/>
            <a:r>
              <a:t>• Accessibility &amp; Mobile UX: Semantic HTML5, WCAG color contrast standards, and responsive card layouts across mobile, tablet, and desktop viewports.</a:t>
            </a:r>
          </a:p>
        </p:txBody>
      </p:sp>
      <p:sp>
        <p:nvSpPr>
          <p:cNvPr id="10" name="Rounded Rectangle 9"/>
          <p:cNvSpPr/>
          <p:nvPr/>
        </p:nvSpPr>
        <p:spPr>
          <a:xfrm>
            <a:off x="6217920" y="1463040"/>
            <a:ext cx="5212080" cy="4846320"/>
          </a:xfrm>
          <a:prstGeom prst="roundRect">
            <a:avLst/>
          </a:prstGeom>
          <a:solidFill>
            <a:srgbClr val="0D172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00200"/>
            <a:ext cx="4846320" cy="365760"/>
          </a:xfrm>
          <a:prstGeom prst="rect">
            <a:avLst/>
          </a:prstGeom>
          <a:noFill/>
        </p:spPr>
        <p:txBody>
          <a:bodyPr wrap="none">
            <a:spAutoFit/>
          </a:bodyPr>
          <a:lstStyle/>
          <a:p>
            <a:pPr>
              <a:defRPr sz="1300" b="1">
                <a:solidFill>
                  <a:srgbClr val="10B981"/>
                </a:solidFill>
              </a:defRPr>
            </a:pPr>
            <a:r>
              <a:t>8 Dedicated Interactive Screens</a:t>
            </a:r>
          </a:p>
        </p:txBody>
      </p:sp>
      <p:sp>
        <p:nvSpPr>
          <p:cNvPr id="12" name="TextBox 11"/>
          <p:cNvSpPr txBox="1"/>
          <p:nvPr/>
        </p:nvSpPr>
        <p:spPr>
          <a:xfrm>
            <a:off x="6400800" y="1920240"/>
            <a:ext cx="4846320" cy="4206240"/>
          </a:xfrm>
          <a:prstGeom prst="rect">
            <a:avLst/>
          </a:prstGeom>
          <a:noFill/>
        </p:spPr>
        <p:txBody>
          <a:bodyPr wrap="square">
            <a:spAutoFit/>
          </a:bodyPr>
          <a:lstStyle/>
          <a:p>
            <a:pPr>
              <a:defRPr sz="1000">
                <a:solidFill>
                  <a:srgbClr val="F8FAFC"/>
                </a:solidFill>
              </a:defRPr>
            </a:pPr>
            <a:r>
              <a:t>1. Dashboard &amp; Pulse: Real-time service health, uptime counters, and synthetic ledger totals.</a:t>
            </a:r>
            <a:br/>
            <a:r>
              <a:t>2. Offline Payment Terminal: Transaction builder with simulated QR envelope preview.</a:t>
            </a:r>
            <a:br/>
            <a:r>
              <a:t>3. Mesh Topology Map: 2D interactive peer nodes with gossip round trigger.</a:t>
            </a:r>
            <a:br/>
            <a:r>
              <a:t>4. Outbox Vault: Store-and-forward queue inspection with remaining TTL badges.</a:t>
            </a:r>
            <a:br/>
            <a:r>
              <a:t>5. Bridge Uplink: One-click bridge flush &amp; settlement engine terminal.</a:t>
            </a:r>
            <a:br/>
            <a:r>
              <a:t>6. Transaction Ledger: Searchable historical records with hop counts &amp; status badges.</a:t>
            </a:r>
            <a:br/>
            <a:r>
              <a:t>7. Cryptographic Inspector: Live PKI explorer with simulated bit-flip tamper testing.</a:t>
            </a:r>
            <a:br/>
            <a:r>
              <a:t>8. Demo Wallets: Synthetic balances, optimistic version counter, and seed reset.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6400800" cy="320040"/>
          </a:xfrm>
          <a:prstGeom prst="rect">
            <a:avLst/>
          </a:prstGeom>
          <a:noFill/>
        </p:spPr>
        <p:txBody>
          <a:bodyPr wrap="square">
            <a:spAutoFit/>
          </a:bodyPr>
          <a:lstStyle/>
          <a:p>
            <a:pPr>
              <a:defRPr sz="1000" b="1">
                <a:solidFill>
                  <a:srgbClr val="06B6D4"/>
                </a:solidFill>
              </a:defRPr>
            </a:pPr>
            <a:r>
              <a:t>VEYRA // PHP BACKEND</a:t>
            </a:r>
          </a:p>
        </p:txBody>
      </p:sp>
      <p:sp>
        <p:nvSpPr>
          <p:cNvPr id="5" name="TextBox 4"/>
          <p:cNvSpPr txBox="1"/>
          <p:nvPr/>
        </p:nvSpPr>
        <p:spPr>
          <a:xfrm>
            <a:off x="731520" y="685800"/>
            <a:ext cx="7772400" cy="685800"/>
          </a:xfrm>
          <a:prstGeom prst="rect">
            <a:avLst/>
          </a:prstGeom>
          <a:noFill/>
        </p:spPr>
        <p:txBody>
          <a:bodyPr wrap="square">
            <a:spAutoFit/>
          </a:bodyPr>
          <a:lstStyle/>
          <a:p>
            <a:pPr>
              <a:defRPr sz="2200" b="1">
                <a:solidFill>
                  <a:srgbClr val="F8FAFC"/>
                </a:solidFill>
              </a:defRPr>
            </a:pPr>
            <a:r>
              <a:t>PHP 8.2 Backend Architecture &amp; Validation</a:t>
            </a:r>
          </a:p>
        </p:txBody>
      </p:sp>
      <p:sp>
        <p:nvSpPr>
          <p:cNvPr id="6" name="Rounded Rectangle 5"/>
          <p:cNvSpPr/>
          <p:nvPr/>
        </p:nvSpPr>
        <p:spPr>
          <a:xfrm>
            <a:off x="8961120" y="594360"/>
            <a:ext cx="2499055" cy="411480"/>
          </a:xfrm>
          <a:prstGeom prst="roundRect">
            <a:avLst/>
          </a:prstGeom>
          <a:solidFill>
            <a:srgbClr val="13203C"/>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0B981"/>
                </a:solidFill>
              </a:defRPr>
            </a:pPr>
            <a:r>
              <a:t>Member 2: Frontend &amp; PHP</a:t>
            </a:r>
          </a:p>
        </p:txBody>
      </p:sp>
      <p:sp>
        <p:nvSpPr>
          <p:cNvPr id="7" name="Rounded Rectangle 6"/>
          <p:cNvSpPr/>
          <p:nvPr/>
        </p:nvSpPr>
        <p:spPr>
          <a:xfrm>
            <a:off x="731520" y="1463040"/>
            <a:ext cx="5212080" cy="4846320"/>
          </a:xfrm>
          <a:prstGeom prst="roundRect">
            <a:avLst/>
          </a:prstGeom>
          <a:solidFill>
            <a:srgbClr val="0D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4846320" cy="365760"/>
          </a:xfrm>
          <a:prstGeom prst="rect">
            <a:avLst/>
          </a:prstGeom>
          <a:noFill/>
        </p:spPr>
        <p:txBody>
          <a:bodyPr wrap="none">
            <a:spAutoFit/>
          </a:bodyPr>
          <a:lstStyle/>
          <a:p>
            <a:pPr>
              <a:defRPr sz="1300" b="1">
                <a:solidFill>
                  <a:srgbClr val="10B981"/>
                </a:solidFill>
              </a:defRPr>
            </a:pPr>
            <a:r>
              <a:t>Core Architecture &amp; Design Patterns</a:t>
            </a:r>
          </a:p>
        </p:txBody>
      </p:sp>
      <p:sp>
        <p:nvSpPr>
          <p:cNvPr id="9" name="TextBox 8"/>
          <p:cNvSpPr txBox="1"/>
          <p:nvPr/>
        </p:nvSpPr>
        <p:spPr>
          <a:xfrm>
            <a:off x="914400" y="1920240"/>
            <a:ext cx="4846320" cy="4206240"/>
          </a:xfrm>
          <a:prstGeom prst="rect">
            <a:avLst/>
          </a:prstGeom>
          <a:noFill/>
        </p:spPr>
        <p:txBody>
          <a:bodyPr wrap="square">
            <a:spAutoFit/>
          </a:bodyPr>
          <a:lstStyle/>
          <a:p>
            <a:pPr>
              <a:defRPr sz="1100">
                <a:solidFill>
                  <a:srgbClr val="F8FAFC"/>
                </a:solidFill>
              </a:defRPr>
            </a:pPr>
            <a:r>
              <a:t>• Layered Architecture: Strict separation between Entrypoint Routers (/public/api/*.php), Services, and Repositories.</a:t>
            </a:r>
            <a:br/>
            <a:br/>
            <a:r>
              <a:t>• Database Singleton: Database::getConnection() manages PDO connection pooling with UTF-8mb4 and native prepared statements.</a:t>
            </a:r>
            <a:br/>
            <a:br/>
            <a:r>
              <a:t>• Auth &amp; CSRF Engine: Auth::verifyCsrfToken() provides defense against cross-site request forgery; verifyPin() implements secure server-side verification.</a:t>
            </a:r>
            <a:br/>
            <a:br/>
            <a:r>
              <a:t>• Microservice Client: JavaVerificationClient manages authenticated server-to-server HTTP REST calls with configurable timeouts and graceful degradation.</a:t>
            </a:r>
            <a:br/>
            <a:br/>
            <a:r>
              <a:t>• Centralized Configuration: Config::get() supports environment-variable overrides (.env) without hardcoded secrets.</a:t>
            </a:r>
          </a:p>
        </p:txBody>
      </p:sp>
      <p:sp>
        <p:nvSpPr>
          <p:cNvPr id="10" name="Rounded Rectangle 9"/>
          <p:cNvSpPr/>
          <p:nvPr/>
        </p:nvSpPr>
        <p:spPr>
          <a:xfrm>
            <a:off x="6217920" y="1463040"/>
            <a:ext cx="5212080" cy="4846320"/>
          </a:xfrm>
          <a:prstGeom prst="roundRect">
            <a:avLst/>
          </a:prstGeom>
          <a:solidFill>
            <a:srgbClr val="0D172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00200"/>
            <a:ext cx="4846320" cy="365760"/>
          </a:xfrm>
          <a:prstGeom prst="rect">
            <a:avLst/>
          </a:prstGeom>
          <a:noFill/>
        </p:spPr>
        <p:txBody>
          <a:bodyPr wrap="none">
            <a:spAutoFit/>
          </a:bodyPr>
          <a:lstStyle/>
          <a:p>
            <a:pPr>
              <a:defRPr sz="1300" b="1">
                <a:solidFill>
                  <a:srgbClr val="10B981"/>
                </a:solidFill>
              </a:defRPr>
            </a:pPr>
            <a:r>
              <a:t>Services &amp; Business Logic</a:t>
            </a:r>
          </a:p>
        </p:txBody>
      </p:sp>
      <p:sp>
        <p:nvSpPr>
          <p:cNvPr id="12" name="TextBox 11"/>
          <p:cNvSpPr txBox="1"/>
          <p:nvPr/>
        </p:nvSpPr>
        <p:spPr>
          <a:xfrm>
            <a:off x="6400800" y="1920240"/>
            <a:ext cx="4846320" cy="4206240"/>
          </a:xfrm>
          <a:prstGeom prst="rect">
            <a:avLst/>
          </a:prstGeom>
          <a:noFill/>
        </p:spPr>
        <p:txBody>
          <a:bodyPr wrap="square">
            <a:spAutoFit/>
          </a:bodyPr>
          <a:lstStyle/>
          <a:p>
            <a:pPr>
              <a:defRPr sz="1000">
                <a:solidFill>
                  <a:srgbClr val="F8FAFC"/>
                </a:solidFill>
              </a:defRPr>
            </a:pPr>
            <a:r>
              <a:t>• TransactionService:</a:t>
            </a:r>
            <a:br/>
            <a:r>
              <a:t>  - createOfflineTransaction(): Validates sender balance, PIN, calls Java encryption, and writes initial QUEUED_FOR_SYNC record.</a:t>
            </a:r>
            <a:br/>
            <a:r>
              <a:t>  - settleVerifiedPacket(): Executes atomic multi-table transaction with optimistic concurrency locks on account balances.</a:t>
            </a:r>
            <a:br/>
            <a:br/>
            <a:r>
              <a:t>• MeshService:</a:t>
            </a:r>
            <a:br/>
            <a:r>
              <a:t>  - runGossipRound(): Dispatches epidemic gossip round across virtual mesh nodes and updates SQLite/MySQL state.</a:t>
            </a:r>
            <a:br/>
            <a:br/>
            <a:r>
              <a:t>• QueueService:</a:t>
            </a:r>
            <a:br/>
            <a:r>
              <a:t>  - synchronize(): Polls bridge node, submits ciphertexts to Java verifier, evaluates idempotency, and commits settlements.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6400800" cy="320040"/>
          </a:xfrm>
          <a:prstGeom prst="rect">
            <a:avLst/>
          </a:prstGeom>
          <a:noFill/>
        </p:spPr>
        <p:txBody>
          <a:bodyPr wrap="square">
            <a:spAutoFit/>
          </a:bodyPr>
          <a:lstStyle/>
          <a:p>
            <a:pPr>
              <a:defRPr sz="1000" b="1">
                <a:solidFill>
                  <a:srgbClr val="06B6D4"/>
                </a:solidFill>
              </a:defRPr>
            </a:pPr>
            <a:r>
              <a:t>VEYRA // DATA INTEGRITY</a:t>
            </a:r>
          </a:p>
        </p:txBody>
      </p:sp>
      <p:sp>
        <p:nvSpPr>
          <p:cNvPr id="5" name="TextBox 4"/>
          <p:cNvSpPr txBox="1"/>
          <p:nvPr/>
        </p:nvSpPr>
        <p:spPr>
          <a:xfrm>
            <a:off x="731520" y="685800"/>
            <a:ext cx="7772400" cy="685800"/>
          </a:xfrm>
          <a:prstGeom prst="rect">
            <a:avLst/>
          </a:prstGeom>
          <a:noFill/>
        </p:spPr>
        <p:txBody>
          <a:bodyPr wrap="square">
            <a:spAutoFit/>
          </a:bodyPr>
          <a:lstStyle/>
          <a:p>
            <a:pPr>
              <a:defRPr sz="2200" b="1">
                <a:solidFill>
                  <a:srgbClr val="F8FAFC"/>
                </a:solidFill>
              </a:defRPr>
            </a:pPr>
            <a:r>
              <a:t>MySQL Schema &amp; Relational Integrity</a:t>
            </a:r>
          </a:p>
        </p:txBody>
      </p:sp>
      <p:sp>
        <p:nvSpPr>
          <p:cNvPr id="6" name="Rounded Rectangle 5"/>
          <p:cNvSpPr/>
          <p:nvPr/>
        </p:nvSpPr>
        <p:spPr>
          <a:xfrm>
            <a:off x="8961120" y="594360"/>
            <a:ext cx="2499055" cy="411480"/>
          </a:xfrm>
          <a:prstGeom prst="roundRect">
            <a:avLst/>
          </a:prstGeom>
          <a:solidFill>
            <a:srgbClr val="13203C"/>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0B981"/>
                </a:solidFill>
              </a:defRPr>
            </a:pPr>
            <a:r>
              <a:t>Member 3: Database &amp; Java</a:t>
            </a:r>
          </a:p>
        </p:txBody>
      </p:sp>
      <p:sp>
        <p:nvSpPr>
          <p:cNvPr id="7" name="Rounded Rectangle 6"/>
          <p:cNvSpPr/>
          <p:nvPr/>
        </p:nvSpPr>
        <p:spPr>
          <a:xfrm>
            <a:off x="731520" y="1463040"/>
            <a:ext cx="5486400" cy="4846320"/>
          </a:xfrm>
          <a:prstGeom prst="roundRect">
            <a:avLst/>
          </a:prstGeom>
          <a:solidFill>
            <a:srgbClr val="0D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5120640" cy="365760"/>
          </a:xfrm>
          <a:prstGeom prst="rect">
            <a:avLst/>
          </a:prstGeom>
          <a:noFill/>
        </p:spPr>
        <p:txBody>
          <a:bodyPr wrap="none">
            <a:spAutoFit/>
          </a:bodyPr>
          <a:lstStyle/>
          <a:p>
            <a:pPr>
              <a:defRPr sz="1300" b="1">
                <a:solidFill>
                  <a:srgbClr val="10B981"/>
                </a:solidFill>
              </a:defRPr>
            </a:pPr>
            <a:r>
              <a:t>8 Normalized Tables &amp; Constraints</a:t>
            </a:r>
          </a:p>
        </p:txBody>
      </p:sp>
      <p:sp>
        <p:nvSpPr>
          <p:cNvPr id="9" name="TextBox 8"/>
          <p:cNvSpPr txBox="1"/>
          <p:nvPr/>
        </p:nvSpPr>
        <p:spPr>
          <a:xfrm>
            <a:off x="914400" y="1920240"/>
            <a:ext cx="5120640" cy="4206240"/>
          </a:xfrm>
          <a:prstGeom prst="rect">
            <a:avLst/>
          </a:prstGeom>
          <a:noFill/>
        </p:spPr>
        <p:txBody>
          <a:bodyPr wrap="square">
            <a:spAutoFit/>
          </a:bodyPr>
          <a:lstStyle/>
          <a:p>
            <a:pPr>
              <a:defRPr sz="1000">
                <a:solidFill>
                  <a:srgbClr val="F8FAFC"/>
                </a:solidFill>
              </a:defRPr>
            </a:pPr>
            <a:r>
              <a:t>1. users: Master synthetic profiles, usernames, and hashed PIN credentials.</a:t>
            </a:r>
            <a:br/>
            <a:r>
              <a:t>2. accounts: Wallets with balance (DECIMAL 15,2), VPA, and version counter.</a:t>
            </a:r>
            <a:br/>
            <a:r>
              <a:t>3. transactions: Core ledger with UUID reference, packet_hash (UNIQUE), status enum, hop_count, and bridge_node_id.</a:t>
            </a:r>
            <a:br/>
            <a:r>
              <a:t>4. transaction_status_history: Append-only audit of state transitions.</a:t>
            </a:r>
            <a:br/>
            <a:r>
              <a:t>5. idempotency_records: Pre-decryption SHA-256 claim tracker (UNIQUE key on packet_hash).</a:t>
            </a:r>
            <a:br/>
            <a:r>
              <a:t>6. offline_queue: Store-and-forward outbox with TTL countdowns.</a:t>
            </a:r>
            <a:br/>
            <a:r>
              <a:t>7. mesh_nodes: Virtual Bluetooth peer registry &amp; battery levels.</a:t>
            </a:r>
            <a:br/>
            <a:r>
              <a:t>8. audit_events: Tamper-evident administrative &amp; security event log.</a:t>
            </a:r>
          </a:p>
        </p:txBody>
      </p:sp>
      <p:sp>
        <p:nvSpPr>
          <p:cNvPr id="10" name="Rounded Rectangle 9"/>
          <p:cNvSpPr/>
          <p:nvPr/>
        </p:nvSpPr>
        <p:spPr>
          <a:xfrm>
            <a:off x="6492240" y="1463040"/>
            <a:ext cx="4937760" cy="4846320"/>
          </a:xfrm>
          <a:prstGeom prst="roundRect">
            <a:avLst/>
          </a:prstGeom>
          <a:solidFill>
            <a:srgbClr val="0D172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0" y="1600200"/>
            <a:ext cx="4572000" cy="365760"/>
          </a:xfrm>
          <a:prstGeom prst="rect">
            <a:avLst/>
          </a:prstGeom>
          <a:noFill/>
        </p:spPr>
        <p:txBody>
          <a:bodyPr wrap="none">
            <a:spAutoFit/>
          </a:bodyPr>
          <a:lstStyle/>
          <a:p>
            <a:pPr>
              <a:defRPr sz="1300" b="1">
                <a:solidFill>
                  <a:srgbClr val="10B981"/>
                </a:solidFill>
              </a:defRPr>
            </a:pPr>
            <a:r>
              <a:t>Data Integrity &amp; Idempotency Rules</a:t>
            </a:r>
          </a:p>
        </p:txBody>
      </p:sp>
      <p:sp>
        <p:nvSpPr>
          <p:cNvPr id="12" name="TextBox 11"/>
          <p:cNvSpPr txBox="1"/>
          <p:nvPr/>
        </p:nvSpPr>
        <p:spPr>
          <a:xfrm>
            <a:off x="6675120" y="1920240"/>
            <a:ext cx="4572000" cy="4206240"/>
          </a:xfrm>
          <a:prstGeom prst="rect">
            <a:avLst/>
          </a:prstGeom>
          <a:noFill/>
        </p:spPr>
        <p:txBody>
          <a:bodyPr wrap="square">
            <a:spAutoFit/>
          </a:bodyPr>
          <a:lstStyle/>
          <a:p>
            <a:pPr>
              <a:defRPr sz="1100">
                <a:solidFill>
                  <a:srgbClr val="F8FAFC"/>
                </a:solidFill>
              </a:defRPr>
            </a:pPr>
            <a:r>
              <a:t>• ACID Transactions:</a:t>
            </a:r>
            <a:br/>
            <a:r>
              <a:t>  All balance debits, balance credits, status transitions, and audit records occur inside $db-&gt;beginTransaction() and $db-&gt;commit().</a:t>
            </a:r>
            <a:br/>
            <a:br/>
            <a:r>
              <a:t>• Two-Tier Idempotency Defense:</a:t>
            </a:r>
            <a:br/>
            <a:r>
              <a:t>  - Tier 1: Java sub-millisecond in-memory ConcurrentHashMap cache.</a:t>
            </a:r>
            <a:br/>
            <a:r>
              <a:t>  - Tier 2: MySQL UNIQUE constraint on packet_hash in idempotency_records and transactions tables.</a:t>
            </a:r>
            <a:br/>
            <a:br/>
            <a:r>
              <a:t>• Synthetic Seed Isolation:</a:t>
            </a:r>
            <a:br/>
            <a:r>
              <a:t>  Seed data contains clearly identified synthetic balances for Alice, Bob, Carol, and Dave. No real banking accounts exist.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6400800" cy="320040"/>
          </a:xfrm>
          <a:prstGeom prst="rect">
            <a:avLst/>
          </a:prstGeom>
          <a:noFill/>
        </p:spPr>
        <p:txBody>
          <a:bodyPr wrap="square">
            <a:spAutoFit/>
          </a:bodyPr>
          <a:lstStyle/>
          <a:p>
            <a:pPr>
              <a:defRPr sz="1000" b="1">
                <a:solidFill>
                  <a:srgbClr val="06B6D4"/>
                </a:solidFill>
              </a:defRPr>
            </a:pPr>
            <a:r>
              <a:t>VEYRA // JAVA VERIFIER</a:t>
            </a:r>
          </a:p>
        </p:txBody>
      </p:sp>
      <p:sp>
        <p:nvSpPr>
          <p:cNvPr id="5" name="TextBox 4"/>
          <p:cNvSpPr txBox="1"/>
          <p:nvPr/>
        </p:nvSpPr>
        <p:spPr>
          <a:xfrm>
            <a:off x="731520" y="685800"/>
            <a:ext cx="7772400" cy="685800"/>
          </a:xfrm>
          <a:prstGeom prst="rect">
            <a:avLst/>
          </a:prstGeom>
          <a:noFill/>
        </p:spPr>
        <p:txBody>
          <a:bodyPr wrap="square">
            <a:spAutoFit/>
          </a:bodyPr>
          <a:lstStyle/>
          <a:p>
            <a:pPr>
              <a:defRPr sz="2200" b="1">
                <a:solidFill>
                  <a:srgbClr val="F8FAFC"/>
                </a:solidFill>
              </a:defRPr>
            </a:pPr>
            <a:r>
              <a:t>Java Spring Boot Verification Microservice</a:t>
            </a:r>
          </a:p>
        </p:txBody>
      </p:sp>
      <p:sp>
        <p:nvSpPr>
          <p:cNvPr id="6" name="Rounded Rectangle 5"/>
          <p:cNvSpPr/>
          <p:nvPr/>
        </p:nvSpPr>
        <p:spPr>
          <a:xfrm>
            <a:off x="8961120" y="594360"/>
            <a:ext cx="2499055" cy="411480"/>
          </a:xfrm>
          <a:prstGeom prst="roundRect">
            <a:avLst/>
          </a:prstGeom>
          <a:solidFill>
            <a:srgbClr val="13203C"/>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0B981"/>
                </a:solidFill>
              </a:defRPr>
            </a:pPr>
            <a:r>
              <a:t>Member 3: Database &amp; Java</a:t>
            </a:r>
          </a:p>
        </p:txBody>
      </p:sp>
      <p:sp>
        <p:nvSpPr>
          <p:cNvPr id="7" name="Rounded Rectangle 6"/>
          <p:cNvSpPr/>
          <p:nvPr/>
        </p:nvSpPr>
        <p:spPr>
          <a:xfrm>
            <a:off x="731520" y="1463040"/>
            <a:ext cx="5212080" cy="4846320"/>
          </a:xfrm>
          <a:prstGeom prst="roundRect">
            <a:avLst/>
          </a:prstGeom>
          <a:solidFill>
            <a:srgbClr val="0D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4846320" cy="365760"/>
          </a:xfrm>
          <a:prstGeom prst="rect">
            <a:avLst/>
          </a:prstGeom>
          <a:noFill/>
        </p:spPr>
        <p:txBody>
          <a:bodyPr wrap="none">
            <a:spAutoFit/>
          </a:bodyPr>
          <a:lstStyle/>
          <a:p>
            <a:pPr>
              <a:defRPr sz="1300" b="1">
                <a:solidFill>
                  <a:srgbClr val="10B981"/>
                </a:solidFill>
              </a:defRPr>
            </a:pPr>
            <a:r>
              <a:t>Microservice Architecture &amp; Classes</a:t>
            </a:r>
          </a:p>
        </p:txBody>
      </p:sp>
      <p:sp>
        <p:nvSpPr>
          <p:cNvPr id="9" name="TextBox 8"/>
          <p:cNvSpPr txBox="1"/>
          <p:nvPr/>
        </p:nvSpPr>
        <p:spPr>
          <a:xfrm>
            <a:off x="914400" y="1920240"/>
            <a:ext cx="4846320" cy="4206240"/>
          </a:xfrm>
          <a:prstGeom prst="rect">
            <a:avLst/>
          </a:prstGeom>
          <a:noFill/>
        </p:spPr>
        <p:txBody>
          <a:bodyPr wrap="square">
            <a:spAutoFit/>
          </a:bodyPr>
          <a:lstStyle/>
          <a:p>
            <a:pPr>
              <a:defRPr sz="1100">
                <a:solidFill>
                  <a:srgbClr val="F8FAFC"/>
                </a:solidFill>
              </a:defRPr>
            </a:pPr>
            <a:r>
              <a:t>• Package: com.veyra.verification</a:t>
            </a:r>
            <a:br/>
            <a:br/>
            <a:r>
              <a:t>• VeyraVerificationApplication:</a:t>
            </a:r>
            <a:br/>
            <a:r>
              <a:t>  Spring Boot 3.3.5 microservice configured on port 8085.</a:t>
            </a:r>
            <a:br/>
            <a:br/>
            <a:r>
              <a:t>• ServerKeyHolder (crypto.ServerKeyHolder):</a:t>
            </a:r>
            <a:br/>
            <a:r>
              <a:t>  Initializes 2048-bit RSA keypair in memory. Exposes public key PEM and protects private key.</a:t>
            </a:r>
            <a:br/>
            <a:br/>
            <a:r>
              <a:t>• VerificationService (service.VerificationService):</a:t>
            </a:r>
            <a:br/>
            <a:r>
              <a:t>  Decapsulates RSA envelope, decrypts AES-256-GCM ciphertext, validates SHA-256 integrity digest, and manages ConcurrentHashMap idempotency cache.</a:t>
            </a:r>
            <a:br/>
            <a:br/>
            <a:r>
              <a:t>• MeshSimulatorService (service.MeshSimulatorService):</a:t>
            </a:r>
            <a:br/>
            <a:r>
              <a:t>  Maintains virtual peer nodes (Alice, Bob, Carol, Dave, Bridge) and simulates Bluetooth Low Energy gossip propagation.</a:t>
            </a:r>
          </a:p>
        </p:txBody>
      </p:sp>
      <p:sp>
        <p:nvSpPr>
          <p:cNvPr id="10" name="Rounded Rectangle 9"/>
          <p:cNvSpPr/>
          <p:nvPr/>
        </p:nvSpPr>
        <p:spPr>
          <a:xfrm>
            <a:off x="6217920" y="1463040"/>
            <a:ext cx="5212080" cy="4846320"/>
          </a:xfrm>
          <a:prstGeom prst="roundRect">
            <a:avLst/>
          </a:prstGeom>
          <a:solidFill>
            <a:srgbClr val="0D172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00200"/>
            <a:ext cx="4846320" cy="365760"/>
          </a:xfrm>
          <a:prstGeom prst="rect">
            <a:avLst/>
          </a:prstGeom>
          <a:noFill/>
        </p:spPr>
        <p:txBody>
          <a:bodyPr wrap="none">
            <a:spAutoFit/>
          </a:bodyPr>
          <a:lstStyle/>
          <a:p>
            <a:pPr>
              <a:defRPr sz="1300" b="1">
                <a:solidFill>
                  <a:srgbClr val="10B981"/>
                </a:solidFill>
              </a:defRPr>
            </a:pPr>
            <a:r>
              <a:t>REST API Endpoints &amp; DTO Contracts</a:t>
            </a:r>
          </a:p>
        </p:txBody>
      </p:sp>
      <p:sp>
        <p:nvSpPr>
          <p:cNvPr id="12" name="TextBox 11"/>
          <p:cNvSpPr txBox="1"/>
          <p:nvPr/>
        </p:nvSpPr>
        <p:spPr>
          <a:xfrm>
            <a:off x="6400800" y="1920240"/>
            <a:ext cx="4846320" cy="4206240"/>
          </a:xfrm>
          <a:prstGeom prst="rect">
            <a:avLst/>
          </a:prstGeom>
          <a:noFill/>
        </p:spPr>
        <p:txBody>
          <a:bodyPr wrap="square">
            <a:spAutoFit/>
          </a:bodyPr>
          <a:lstStyle/>
          <a:p>
            <a:pPr>
              <a:defRPr sz="1000">
                <a:solidFill>
                  <a:srgbClr val="F8FAFC"/>
                </a:solidFill>
              </a:defRPr>
            </a:pPr>
            <a:r>
              <a:t>• GET /api/v1/health:</a:t>
            </a:r>
            <a:br/>
            <a:r>
              <a:t>  Returns microservice uptime, JVM memory statistics, and key fingerprint.</a:t>
            </a:r>
            <a:br/>
            <a:br/>
            <a:r>
              <a:t>• GET /api/v1/crypto/public-key:</a:t>
            </a:r>
            <a:br/>
            <a:r>
              <a:t>  Returns server's RSA-2048 public key for offline client sealing.</a:t>
            </a:r>
            <a:br/>
            <a:br/>
            <a:r>
              <a:t>• POST /api/v1/crypto/encrypt:</a:t>
            </a:r>
            <a:br/>
            <a:r>
              <a:t>  Helper endpoint to simulate client-side hybrid envelope encryption.</a:t>
            </a:r>
            <a:br/>
            <a:br/>
            <a:r>
              <a:t>• POST /api/v1/verify:</a:t>
            </a:r>
            <a:br/>
            <a:r>
              <a:t>  Validates incoming packet DTO, verifies signature/tag, checks idempotency cache, returns decrypted payload.</a:t>
            </a:r>
            <a:br/>
            <a:br/>
            <a:r>
              <a:t>• POST /api/v1/mesh/gossip &amp; /api/v1/mesh/flush-bridge:</a:t>
            </a:r>
            <a:br/>
            <a:r>
              <a:t>  Controls epidemic P2P relay rounds and extracts packets from bridge buffer.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6400800" cy="320040"/>
          </a:xfrm>
          <a:prstGeom prst="rect">
            <a:avLst/>
          </a:prstGeom>
          <a:noFill/>
        </p:spPr>
        <p:txBody>
          <a:bodyPr wrap="square">
            <a:spAutoFit/>
          </a:bodyPr>
          <a:lstStyle/>
          <a:p>
            <a:pPr>
              <a:defRPr sz="1000" b="1">
                <a:solidFill>
                  <a:srgbClr val="06B6D4"/>
                </a:solidFill>
              </a:defRPr>
            </a:pPr>
            <a:r>
              <a:t>VEYRA // CRYPTOGRAPHY</a:t>
            </a:r>
          </a:p>
        </p:txBody>
      </p:sp>
      <p:sp>
        <p:nvSpPr>
          <p:cNvPr id="5" name="TextBox 4"/>
          <p:cNvSpPr txBox="1"/>
          <p:nvPr/>
        </p:nvSpPr>
        <p:spPr>
          <a:xfrm>
            <a:off x="731520" y="685800"/>
            <a:ext cx="7772400" cy="685800"/>
          </a:xfrm>
          <a:prstGeom prst="rect">
            <a:avLst/>
          </a:prstGeom>
          <a:noFill/>
        </p:spPr>
        <p:txBody>
          <a:bodyPr wrap="square">
            <a:spAutoFit/>
          </a:bodyPr>
          <a:lstStyle/>
          <a:p>
            <a:pPr>
              <a:defRPr sz="2200" b="1">
                <a:solidFill>
                  <a:srgbClr val="F8FAFC"/>
                </a:solidFill>
              </a:defRPr>
            </a:pPr>
            <a:r>
              <a:t>Hybrid Cryptography &amp; Idempotency</a:t>
            </a:r>
          </a:p>
        </p:txBody>
      </p:sp>
      <p:sp>
        <p:nvSpPr>
          <p:cNvPr id="6" name="Rounded Rectangle 5"/>
          <p:cNvSpPr/>
          <p:nvPr/>
        </p:nvSpPr>
        <p:spPr>
          <a:xfrm>
            <a:off x="8961120" y="594360"/>
            <a:ext cx="2499055" cy="411480"/>
          </a:xfrm>
          <a:prstGeom prst="roundRect">
            <a:avLst/>
          </a:prstGeom>
          <a:solidFill>
            <a:srgbClr val="13203C"/>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0B981"/>
                </a:solidFill>
              </a:defRPr>
            </a:pPr>
            <a:r>
              <a:t>Member 4: Crypto &amp; Testing</a:t>
            </a:r>
          </a:p>
        </p:txBody>
      </p:sp>
      <p:sp>
        <p:nvSpPr>
          <p:cNvPr id="7" name="Rounded Rectangle 6"/>
          <p:cNvSpPr/>
          <p:nvPr/>
        </p:nvSpPr>
        <p:spPr>
          <a:xfrm>
            <a:off x="731520" y="1463040"/>
            <a:ext cx="5212080" cy="4846320"/>
          </a:xfrm>
          <a:prstGeom prst="roundRect">
            <a:avLst/>
          </a:prstGeom>
          <a:solidFill>
            <a:srgbClr val="0D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4846320" cy="365760"/>
          </a:xfrm>
          <a:prstGeom prst="rect">
            <a:avLst/>
          </a:prstGeom>
          <a:noFill/>
        </p:spPr>
        <p:txBody>
          <a:bodyPr wrap="none">
            <a:spAutoFit/>
          </a:bodyPr>
          <a:lstStyle/>
          <a:p>
            <a:pPr>
              <a:defRPr sz="1300" b="1">
                <a:solidFill>
                  <a:srgbClr val="10B981"/>
                </a:solidFill>
              </a:defRPr>
            </a:pPr>
            <a:r>
              <a:t>Hybrid Encryption Scheme (AES-GCM + RSA)</a:t>
            </a:r>
          </a:p>
        </p:txBody>
      </p:sp>
      <p:sp>
        <p:nvSpPr>
          <p:cNvPr id="9" name="TextBox 8"/>
          <p:cNvSpPr txBox="1"/>
          <p:nvPr/>
        </p:nvSpPr>
        <p:spPr>
          <a:xfrm>
            <a:off x="914400" y="1920240"/>
            <a:ext cx="4846320" cy="4206240"/>
          </a:xfrm>
          <a:prstGeom prst="rect">
            <a:avLst/>
          </a:prstGeom>
          <a:noFill/>
        </p:spPr>
        <p:txBody>
          <a:bodyPr wrap="square">
            <a:spAutoFit/>
          </a:bodyPr>
          <a:lstStyle/>
          <a:p>
            <a:pPr>
              <a:defRPr sz="1100">
                <a:solidFill>
                  <a:srgbClr val="F8FAFC"/>
                </a:solidFill>
              </a:defRPr>
            </a:pPr>
            <a:r>
              <a:t>• Symmetrical Sealing: Ephemeral AES-256-GCM symmetric session key encrypts canonical transaction instruction.</a:t>
            </a:r>
            <a:br/>
            <a:br/>
            <a:r>
              <a:t>• Authenticated Ciphertext: GCM generates a 128-bit authentication tag. If an attacker modifies even a single bit in the mesh, the GCM tag check fails instantly.</a:t>
            </a:r>
            <a:br/>
            <a:br/>
            <a:r>
              <a:t>• Key Envelope: The ephemeral AES key is enveloped using RSA-2048 OAEP (SHA-256 padding) using the server's public key.</a:t>
            </a:r>
            <a:br/>
            <a:br/>
            <a:r>
              <a:t>• Zero Intermediate Exposure: Peer nodes (Alice, Bob, Carol) forward the opaque base64 string without access to the decryption key.</a:t>
            </a:r>
            <a:br/>
            <a:br/>
            <a:r>
              <a:t>• Integrity Digest: SHA-256 hash of the complete envelope serves as the unique packet identifier.</a:t>
            </a:r>
          </a:p>
        </p:txBody>
      </p:sp>
      <p:sp>
        <p:nvSpPr>
          <p:cNvPr id="10" name="Rounded Rectangle 9"/>
          <p:cNvSpPr/>
          <p:nvPr/>
        </p:nvSpPr>
        <p:spPr>
          <a:xfrm>
            <a:off x="6217920" y="1463040"/>
            <a:ext cx="5212080" cy="4846320"/>
          </a:xfrm>
          <a:prstGeom prst="roundRect">
            <a:avLst/>
          </a:prstGeom>
          <a:solidFill>
            <a:srgbClr val="0D172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00200"/>
            <a:ext cx="4846320" cy="365760"/>
          </a:xfrm>
          <a:prstGeom prst="rect">
            <a:avLst/>
          </a:prstGeom>
          <a:noFill/>
        </p:spPr>
        <p:txBody>
          <a:bodyPr wrap="none">
            <a:spAutoFit/>
          </a:bodyPr>
          <a:lstStyle/>
          <a:p>
            <a:pPr>
              <a:defRPr sz="1300" b="1">
                <a:solidFill>
                  <a:srgbClr val="10B981"/>
                </a:solidFill>
              </a:defRPr>
            </a:pPr>
            <a:r>
              <a:t>Two-Tier Idempotency Defense</a:t>
            </a:r>
          </a:p>
        </p:txBody>
      </p:sp>
      <p:sp>
        <p:nvSpPr>
          <p:cNvPr id="12" name="TextBox 11"/>
          <p:cNvSpPr txBox="1"/>
          <p:nvPr/>
        </p:nvSpPr>
        <p:spPr>
          <a:xfrm>
            <a:off x="6400800" y="1920240"/>
            <a:ext cx="4846320" cy="4206240"/>
          </a:xfrm>
          <a:prstGeom prst="rect">
            <a:avLst/>
          </a:prstGeom>
          <a:noFill/>
        </p:spPr>
        <p:txBody>
          <a:bodyPr wrap="square">
            <a:spAutoFit/>
          </a:bodyPr>
          <a:lstStyle/>
          <a:p>
            <a:pPr>
              <a:defRPr sz="1100">
                <a:solidFill>
                  <a:srgbClr val="F8FAFC"/>
                </a:solidFill>
              </a:defRPr>
            </a:pPr>
            <a:r>
              <a:t>• The Multi-Path Relay Problem:</a:t>
            </a:r>
            <a:br/>
            <a:r>
              <a:t>  In an epidemic BLE mesh, multiple bridge nodes receive duplicate copies of the same transaction packet.</a:t>
            </a:r>
            <a:br/>
            <a:br/>
            <a:r>
              <a:t>• Tier 1: In-Memory Fast Filter (Java)</a:t>
            </a:r>
            <a:br/>
            <a:r>
              <a:t>  ConcurrentHashMap&lt;String, Long&gt; caches packet hashes. Sub-millisecond lookup drops duplicates before decryption, eliminating crypto overhead.</a:t>
            </a:r>
            <a:br/>
            <a:br/>
            <a:r>
              <a:t>• Tier 2: Relational Integrity Filter (MySQL)</a:t>
            </a:r>
            <a:br/>
            <a:r>
              <a:t>  Unique index on packet_hash in idempotency_records and transactions tables. Even under concurrent bridge uploads, MySQL ACID locks reject duplicate commits.</a:t>
            </a:r>
            <a:br/>
            <a:br/>
            <a:r>
              <a:t>• Replay Immunity: Nonce + timestamp ensures past packets cannot be re-injected.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6400800" cy="320040"/>
          </a:xfrm>
          <a:prstGeom prst="rect">
            <a:avLst/>
          </a:prstGeom>
          <a:noFill/>
        </p:spPr>
        <p:txBody>
          <a:bodyPr wrap="square">
            <a:spAutoFit/>
          </a:bodyPr>
          <a:lstStyle/>
          <a:p>
            <a:pPr>
              <a:defRPr sz="1000" b="1">
                <a:solidFill>
                  <a:srgbClr val="06B6D4"/>
                </a:solidFill>
              </a:defRPr>
            </a:pPr>
            <a:r>
              <a:t>VEYRA // QA &amp; ACCEPTANCE</a:t>
            </a:r>
          </a:p>
        </p:txBody>
      </p:sp>
      <p:sp>
        <p:nvSpPr>
          <p:cNvPr id="5" name="TextBox 4"/>
          <p:cNvSpPr txBox="1"/>
          <p:nvPr/>
        </p:nvSpPr>
        <p:spPr>
          <a:xfrm>
            <a:off x="731520" y="685800"/>
            <a:ext cx="7772400" cy="685800"/>
          </a:xfrm>
          <a:prstGeom prst="rect">
            <a:avLst/>
          </a:prstGeom>
          <a:noFill/>
        </p:spPr>
        <p:txBody>
          <a:bodyPr wrap="square">
            <a:spAutoFit/>
          </a:bodyPr>
          <a:lstStyle/>
          <a:p>
            <a:pPr>
              <a:defRPr sz="2200" b="1">
                <a:solidFill>
                  <a:srgbClr val="F8FAFC"/>
                </a:solidFill>
              </a:defRPr>
            </a:pPr>
            <a:r>
              <a:t>Empirical Testing &amp; Security Evaluation</a:t>
            </a:r>
          </a:p>
        </p:txBody>
      </p:sp>
      <p:sp>
        <p:nvSpPr>
          <p:cNvPr id="6" name="Rounded Rectangle 5"/>
          <p:cNvSpPr/>
          <p:nvPr/>
        </p:nvSpPr>
        <p:spPr>
          <a:xfrm>
            <a:off x="8961120" y="594360"/>
            <a:ext cx="2499055" cy="411480"/>
          </a:xfrm>
          <a:prstGeom prst="roundRect">
            <a:avLst/>
          </a:prstGeom>
          <a:solidFill>
            <a:srgbClr val="13203C"/>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0B981"/>
                </a:solidFill>
              </a:defRPr>
            </a:pPr>
            <a:r>
              <a:t>Member 4: Crypto &amp; Testing</a:t>
            </a:r>
          </a:p>
        </p:txBody>
      </p:sp>
      <p:sp>
        <p:nvSpPr>
          <p:cNvPr id="7" name="Rounded Rectangle 6"/>
          <p:cNvSpPr/>
          <p:nvPr/>
        </p:nvSpPr>
        <p:spPr>
          <a:xfrm>
            <a:off x="731520" y="1463040"/>
            <a:ext cx="5212080" cy="4846320"/>
          </a:xfrm>
          <a:prstGeom prst="roundRect">
            <a:avLst/>
          </a:prstGeom>
          <a:solidFill>
            <a:srgbClr val="0D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4846320" cy="365760"/>
          </a:xfrm>
          <a:prstGeom prst="rect">
            <a:avLst/>
          </a:prstGeom>
          <a:noFill/>
        </p:spPr>
        <p:txBody>
          <a:bodyPr wrap="none">
            <a:spAutoFit/>
          </a:bodyPr>
          <a:lstStyle/>
          <a:p>
            <a:pPr>
              <a:defRPr sz="1300" b="1">
                <a:solidFill>
                  <a:srgbClr val="10B981"/>
                </a:solidFill>
              </a:defRPr>
            </a:pPr>
            <a:r>
              <a:t>Empirical Test Results (100% Pass)</a:t>
            </a:r>
          </a:p>
        </p:txBody>
      </p:sp>
      <p:sp>
        <p:nvSpPr>
          <p:cNvPr id="9" name="TextBox 8"/>
          <p:cNvSpPr txBox="1"/>
          <p:nvPr/>
        </p:nvSpPr>
        <p:spPr>
          <a:xfrm>
            <a:off x="914400" y="1920240"/>
            <a:ext cx="4846320" cy="4206240"/>
          </a:xfrm>
          <a:prstGeom prst="rect">
            <a:avLst/>
          </a:prstGeom>
          <a:noFill/>
        </p:spPr>
        <p:txBody>
          <a:bodyPr wrap="square">
            <a:spAutoFit/>
          </a:bodyPr>
          <a:lstStyle/>
          <a:p>
            <a:pPr>
              <a:defRPr sz="950">
                <a:solidFill>
                  <a:srgbClr val="F8FAFC"/>
                </a:solidFill>
              </a:defRPr>
            </a:pPr>
            <a:r>
              <a:t>• Automated PHP Integration Suite: 15 / 15 Passed</a:t>
            </a:r>
            <a:br/>
            <a:r>
              <a:t>  [01] PHP Config &amp; Runtime: PASS</a:t>
            </a:r>
            <a:br/>
            <a:r>
              <a:t>  [02] MySQL 8 Schema Tables: PASS</a:t>
            </a:r>
            <a:br/>
            <a:r>
              <a:t>  [03] Java Service Health: PASS</a:t>
            </a:r>
            <a:br/>
            <a:r>
              <a:t>  [04] Public Key Exchange: PASS</a:t>
            </a:r>
            <a:br/>
            <a:r>
              <a:t>  [05] Valid Tx Creation &amp; Hybrid Sealing: PASS</a:t>
            </a:r>
            <a:br/>
            <a:r>
              <a:t>  [06] Insufficient Balance Rejection: PASS</a:t>
            </a:r>
            <a:br/>
            <a:r>
              <a:t>  [07] Invalid PIN Check Rejection: PASS</a:t>
            </a:r>
            <a:br/>
            <a:r>
              <a:t>  [08] Store-and-Forward Vault: PASS</a:t>
            </a:r>
            <a:br/>
            <a:r>
              <a:t>  [09] BLE Epidemic Gossip Propagation: PASS</a:t>
            </a:r>
            <a:br/>
            <a:r>
              <a:t>  [10] Bridge Flush &amp; Settlement: PASS</a:t>
            </a:r>
            <a:br/>
            <a:r>
              <a:t>  [11] Two-Tier Idempotency Duplicate Drop: PASS</a:t>
            </a:r>
            <a:br/>
            <a:r>
              <a:t>  [12] SQL Injection Immunity: PASS</a:t>
            </a:r>
            <a:br/>
            <a:r>
              <a:t>  [13] Internal Key Security Boundary: PASS</a:t>
            </a:r>
            <a:br/>
            <a:r>
              <a:t>  [14] Tamper-Evident Audit Logging: PASS</a:t>
            </a:r>
            <a:br/>
            <a:r>
              <a:t>  [15] Frontend Static Assets Integrity: PASS</a:t>
            </a:r>
            <a:br/>
            <a:br/>
            <a:r>
              <a:t>• Maven Java Test Suite: 3 / 3 Passed (Crypto, Tampering, Concurrency)</a:t>
            </a:r>
          </a:p>
        </p:txBody>
      </p:sp>
      <p:sp>
        <p:nvSpPr>
          <p:cNvPr id="10" name="Rounded Rectangle 9"/>
          <p:cNvSpPr/>
          <p:nvPr/>
        </p:nvSpPr>
        <p:spPr>
          <a:xfrm>
            <a:off x="6217920" y="1463040"/>
            <a:ext cx="5212080" cy="4846320"/>
          </a:xfrm>
          <a:prstGeom prst="roundRect">
            <a:avLst/>
          </a:prstGeom>
          <a:solidFill>
            <a:srgbClr val="0D172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00200"/>
            <a:ext cx="4846320" cy="365760"/>
          </a:xfrm>
          <a:prstGeom prst="rect">
            <a:avLst/>
          </a:prstGeom>
          <a:noFill/>
        </p:spPr>
        <p:txBody>
          <a:bodyPr wrap="none">
            <a:spAutoFit/>
          </a:bodyPr>
          <a:lstStyle/>
          <a:p>
            <a:pPr>
              <a:defRPr sz="1300" b="1">
                <a:solidFill>
                  <a:srgbClr val="10B981"/>
                </a:solidFill>
              </a:defRPr>
            </a:pPr>
            <a:r>
              <a:t>Security Measures &amp; Honest Limitations</a:t>
            </a:r>
          </a:p>
        </p:txBody>
      </p:sp>
      <p:sp>
        <p:nvSpPr>
          <p:cNvPr id="12" name="TextBox 11"/>
          <p:cNvSpPr txBox="1"/>
          <p:nvPr/>
        </p:nvSpPr>
        <p:spPr>
          <a:xfrm>
            <a:off x="6400800" y="1920240"/>
            <a:ext cx="4846320" cy="4206240"/>
          </a:xfrm>
          <a:prstGeom prst="rect">
            <a:avLst/>
          </a:prstGeom>
          <a:noFill/>
        </p:spPr>
        <p:txBody>
          <a:bodyPr wrap="square">
            <a:spAutoFit/>
          </a:bodyPr>
          <a:lstStyle/>
          <a:p>
            <a:pPr>
              <a:defRPr sz="1000">
                <a:solidFill>
                  <a:srgbClr val="F8FAFC"/>
                </a:solidFill>
              </a:defRPr>
            </a:pPr>
            <a:r>
              <a:t>• Security Controls Implemented:</a:t>
            </a:r>
            <a:br/>
            <a:r>
              <a:t>  - Cryptographic integrity tag validation</a:t>
            </a:r>
            <a:br/>
            <a:r>
              <a:t>  - Server-side PIN verification</a:t>
            </a:r>
            <a:br/>
            <a:r>
              <a:t>  - Prepared PDO statements (100% SQLi immune)</a:t>
            </a:r>
            <a:br/>
            <a:r>
              <a:t>  - Strict X-Veyra-Internal-Key API boundary</a:t>
            </a:r>
            <a:br/>
            <a:r>
              <a:t>  - Two-tier idempotency filtering.</a:t>
            </a:r>
            <a:br/>
            <a:br/>
            <a:r>
              <a:t>• Honest Prototype Limitations:</a:t>
            </a:r>
            <a:br/>
            <a:r>
              <a:t>  - Not a real-money payment platform (No direct bank / NPCI / UPI link).</a:t>
            </a:r>
            <a:br/>
            <a:r>
              <a:t>  - Mesh is simulated over HTTP/SQL (Physical BLE requires native mobile daemon).</a:t>
            </a:r>
            <a:br/>
            <a:r>
              <a:t>  - Double-spending defense is retroactive at bridge settlement rather than cryptographically locked on disconnected hardware tokens.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6400800" cy="320040"/>
          </a:xfrm>
          <a:prstGeom prst="rect">
            <a:avLst/>
          </a:prstGeom>
          <a:noFill/>
        </p:spPr>
        <p:txBody>
          <a:bodyPr wrap="square">
            <a:spAutoFit/>
          </a:bodyPr>
          <a:lstStyle/>
          <a:p>
            <a:pPr>
              <a:defRPr sz="1000" b="1">
                <a:solidFill>
                  <a:srgbClr val="06B6D4"/>
                </a:solidFill>
              </a:defRPr>
            </a:pPr>
            <a:r>
              <a:t>VEYRA // ROADMAP &amp; CONCLUSION</a:t>
            </a:r>
          </a:p>
        </p:txBody>
      </p:sp>
      <p:sp>
        <p:nvSpPr>
          <p:cNvPr id="5" name="TextBox 4"/>
          <p:cNvSpPr txBox="1"/>
          <p:nvPr/>
        </p:nvSpPr>
        <p:spPr>
          <a:xfrm>
            <a:off x="731520" y="685800"/>
            <a:ext cx="7772400" cy="685800"/>
          </a:xfrm>
          <a:prstGeom prst="rect">
            <a:avLst/>
          </a:prstGeom>
          <a:noFill/>
        </p:spPr>
        <p:txBody>
          <a:bodyPr wrap="square">
            <a:spAutoFit/>
          </a:bodyPr>
          <a:lstStyle/>
          <a:p>
            <a:pPr>
              <a:defRPr sz="2200" b="1">
                <a:solidFill>
                  <a:srgbClr val="F8FAFC"/>
                </a:solidFill>
              </a:defRPr>
            </a:pPr>
            <a:r>
              <a:t>Future Roadmap, Commercial Scope &amp; Conclusion</a:t>
            </a:r>
          </a:p>
        </p:txBody>
      </p:sp>
      <p:sp>
        <p:nvSpPr>
          <p:cNvPr id="6" name="Rounded Rectangle 5"/>
          <p:cNvSpPr/>
          <p:nvPr/>
        </p:nvSpPr>
        <p:spPr>
          <a:xfrm>
            <a:off x="8961120" y="594360"/>
            <a:ext cx="2499055" cy="411480"/>
          </a:xfrm>
          <a:prstGeom prst="roundRect">
            <a:avLst/>
          </a:prstGeom>
          <a:solidFill>
            <a:srgbClr val="13203C"/>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0B981"/>
                </a:solidFill>
              </a:defRPr>
            </a:pPr>
            <a:r>
              <a:t>Collaborative Q&amp;A</a:t>
            </a:r>
          </a:p>
        </p:txBody>
      </p:sp>
      <p:sp>
        <p:nvSpPr>
          <p:cNvPr id="7" name="Rounded Rectangle 6"/>
          <p:cNvSpPr/>
          <p:nvPr/>
        </p:nvSpPr>
        <p:spPr>
          <a:xfrm>
            <a:off x="731520" y="1463040"/>
            <a:ext cx="5212080" cy="4846320"/>
          </a:xfrm>
          <a:prstGeom prst="roundRect">
            <a:avLst/>
          </a:prstGeom>
          <a:solidFill>
            <a:srgbClr val="0D172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4846320" cy="365760"/>
          </a:xfrm>
          <a:prstGeom prst="rect">
            <a:avLst/>
          </a:prstGeom>
          <a:noFill/>
        </p:spPr>
        <p:txBody>
          <a:bodyPr wrap="none">
            <a:spAutoFit/>
          </a:bodyPr>
          <a:lstStyle/>
          <a:p>
            <a:pPr>
              <a:defRPr sz="1300" b="1">
                <a:solidFill>
                  <a:srgbClr val="10B981"/>
                </a:solidFill>
              </a:defRPr>
            </a:pPr>
            <a:r>
              <a:t>Future Engineering Roadmap</a:t>
            </a:r>
          </a:p>
        </p:txBody>
      </p:sp>
      <p:sp>
        <p:nvSpPr>
          <p:cNvPr id="9" name="TextBox 8"/>
          <p:cNvSpPr txBox="1"/>
          <p:nvPr/>
        </p:nvSpPr>
        <p:spPr>
          <a:xfrm>
            <a:off x="914400" y="1920240"/>
            <a:ext cx="4846320" cy="4206240"/>
          </a:xfrm>
          <a:prstGeom prst="rect">
            <a:avLst/>
          </a:prstGeom>
          <a:noFill/>
        </p:spPr>
        <p:txBody>
          <a:bodyPr wrap="square">
            <a:spAutoFit/>
          </a:bodyPr>
          <a:lstStyle/>
          <a:p>
            <a:pPr>
              <a:defRPr sz="1100">
                <a:solidFill>
                  <a:srgbClr val="F8FAFC"/>
                </a:solidFill>
              </a:defRPr>
            </a:pPr>
            <a:r>
              <a:t>1. Native Hardware Security Modules (eSE / StrongBox):</a:t>
            </a:r>
            <a:br/>
            <a:r>
              <a:t>   Store offline keys inside hardware secure enclaves to enforce offline double-spending prevention.</a:t>
            </a:r>
            <a:br/>
            <a:br/>
            <a:r>
              <a:t>2. Native BLE Gossip Daemon:</a:t>
            </a:r>
            <a:br/>
            <a:r>
              <a:t>   Android/iOS background daemon leveraging Bluetooth 5.0 Low Energy advertising packets for real-world peer discovery.</a:t>
            </a:r>
            <a:br/>
            <a:br/>
            <a:r>
              <a:t>3. Asymmetric ECDSA Digital Signatures:</a:t>
            </a:r>
            <a:br/>
            <a:r>
              <a:t>   Replace symmetric PIN verification with client-held private key signatures for cryptographic non-repudiation.</a:t>
            </a:r>
            <a:br/>
            <a:br/>
            <a:r>
              <a:t>4. Zero-Knowledge Proofs (ZKP):</a:t>
            </a:r>
            <a:br/>
            <a:r>
              <a:t>   Allow intermediate peers to verify that a transaction packet is valid without revealing sender, receiver, or amount.</a:t>
            </a:r>
          </a:p>
        </p:txBody>
      </p:sp>
      <p:sp>
        <p:nvSpPr>
          <p:cNvPr id="10" name="Rounded Rectangle 9"/>
          <p:cNvSpPr/>
          <p:nvPr/>
        </p:nvSpPr>
        <p:spPr>
          <a:xfrm>
            <a:off x="6217920" y="1463040"/>
            <a:ext cx="5212080" cy="4846320"/>
          </a:xfrm>
          <a:prstGeom prst="roundRect">
            <a:avLst/>
          </a:prstGeom>
          <a:solidFill>
            <a:srgbClr val="0D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00200"/>
            <a:ext cx="4846320" cy="365760"/>
          </a:xfrm>
          <a:prstGeom prst="rect">
            <a:avLst/>
          </a:prstGeom>
          <a:noFill/>
        </p:spPr>
        <p:txBody>
          <a:bodyPr wrap="none">
            <a:spAutoFit/>
          </a:bodyPr>
          <a:lstStyle/>
          <a:p>
            <a:pPr>
              <a:defRPr sz="1300" b="1">
                <a:solidFill>
                  <a:srgbClr val="10B981"/>
                </a:solidFill>
              </a:defRPr>
            </a:pPr>
            <a:r>
              <a:t>Project Summary &amp; Conclusion</a:t>
            </a:r>
          </a:p>
        </p:txBody>
      </p:sp>
      <p:sp>
        <p:nvSpPr>
          <p:cNvPr id="12" name="TextBox 11"/>
          <p:cNvSpPr txBox="1"/>
          <p:nvPr/>
        </p:nvSpPr>
        <p:spPr>
          <a:xfrm>
            <a:off x="6400800" y="1920240"/>
            <a:ext cx="4846320" cy="4206240"/>
          </a:xfrm>
          <a:prstGeom prst="rect">
            <a:avLst/>
          </a:prstGeom>
          <a:noFill/>
        </p:spPr>
        <p:txBody>
          <a:bodyPr wrap="square">
            <a:spAutoFit/>
          </a:bodyPr>
          <a:lstStyle/>
          <a:p>
            <a:pPr>
              <a:defRPr sz="1000">
                <a:solidFill>
                  <a:srgbClr val="F8FAFC"/>
                </a:solidFill>
              </a:defRPr>
            </a:pPr>
            <a:r>
              <a:t>• Summary of Achievements:</a:t>
            </a:r>
            <a:br/>
            <a:r>
              <a:t>  - Replaced legacy monolithic in-memory app with clean 3-tier architecture.</a:t>
            </a:r>
            <a:br/>
            <a:r>
              <a:t>  - Built resilient hybrid crypto scheme (AES-256-GCM + RSA-2048 OAEP).</a:t>
            </a:r>
            <a:br/>
            <a:r>
              <a:t>  - Normalized MySQL schema with 8 tables, audit logs, and optimistic locking.</a:t>
            </a:r>
            <a:br/>
            <a:r>
              <a:t>  - Designed 8-screen responsive Bootstrap 5.3 Fintech web terminal.</a:t>
            </a:r>
            <a:br/>
            <a:r>
              <a:t>  - Proven two-tier idempotency defense against epidemic mesh duplicates.</a:t>
            </a:r>
            <a:br/>
            <a:r>
              <a:t>  - Containerized with Docker, docker-compose, and Render/Netlify blueprints.</a:t>
            </a:r>
            <a:br/>
            <a:br/>
            <a:r>
              <a:t>• Conclusion:</a:t>
            </a:r>
            <a:br/>
            <a:r>
              <a:t>  VEYRA demonstrates that offline resilience does not require sacrificing cryptographic integrity or relational consistency.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